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gRXW0Ak26xm4HV5wMghoO2Dq1Xq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Артём Заглубоцкий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15T12:28:42.104">
    <p:pos x="6000" y="0"/>
    <p:text>Это не как выполняет а архитектура и я бы её вынес первым слайдом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0mxCvo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10-15T12:26:46.095">
    <p:pos x="6000" y="0"/>
    <p:text>На этот слайд я бы вынес картинку, она визуально покажет разницу, а это всё словами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0mxCvc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10-15T12:28:18.242">
    <p:pos x="6000" y="0"/>
    <p:text>Нужна картинка как выглядит Dockerfile и из чего состоит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0mxCvk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10-15T12:27:48.845">
    <p:pos x="6000" y="0"/>
    <p:text>Должно уйти в Advanced и я бы так делал:
1) Чрутизация
2) Namespaces
3) Cgroups
4) Overlayfs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0mxCvg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10-15T12:29:07.388">
    <p:pos x="6000" y="0"/>
    <p:text>Уходит в Advanced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0mxCvs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[0:00–1:00] ХУК. Слайд на экране, ты молчишь две секунды, потом: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«Пятница, семь вечера. Кто-то нажал одну кнопку — и приложение, которым пользуются миллионы людей, легло. Через четыре минуты всё снова работает, и большинство пользователей даже не заметили.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Вот про эти четыре минуты и про людей, которые их обеспечивают, — следующие пятнадцать минут.»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Пауза. Потом: «Меня зовут Таня, я DevOps-инженер и преподаю на ПИН. И я из клуба inview.»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НЕ представляйся до хука — сначала зацепка, потом имя.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[1:00–2:00] КТО МЫ.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«Клуб называется inview. Его собрали студенты и сотрудники ИТМО — просто потому, что заметили: в городе полно сообществ про фронтенд, про алгоритмы, про машинное обучение, а про инфраструктуру — почти ничего. Решили сделать сами.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Нас поддерживает факультет ПИН, но денег за это никто не получает — клуб держится на энтузиазме.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Важная вещь, которую я хочу, чтобы вы услышали сразу: у нас в одной аудитории сидят первокурсники и действующие senior-инженеры. Это не «кружок для новичков» и не «закрытый клуб для профи». Фото справа — с нашей июньской встречи, там ровно такая смесь.»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Цифры внизу — не проговаривай все три, ткни в одну: «пятьсот человек в сообществе».</a:t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[9:45–10:45] ФОРМАТЫ. Не читай все пять — назови три и махни рукой на остальные.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«Коротко, что мы делаем.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Митапы — зовём действующих инженеров рассказывать про то, что у них реально происходит на работе. Воркшопы — это руками: приносишь ноутбук и уходишь с работающей штукой, а не с конспектом. Открытые кейсы на GitHub — их можно проходить самому и бесплатно, даже если вы ни разу к нам не пришли.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И то, что для многих оказывается главным, — выезды. На фото наш апрельский ретрит: днём доклады прямо в лесу, ночью разговоры про упавший прод у костра. Половина полезных знакомств случается именно там, а не в аудитории.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И чат, где можно задать глупый вопрос и не получить по шапке. Это, если честно, самое ценное.»</a:t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15da47242f20b82f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15da47242f20b82f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15da47242f20b82f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Базовая часть: концепции Docker, Dockerfile и кэш сборки, Compose с приложением и Redis, Harbor и сканирование образов. Advanced: namespaces и cgroups v2, multistage и Hadolint, локальная подпись архива образа через OpenSSL и volumes.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Начало базового трека. Разберём устройство контейнеров и образов, напишем Dockerfile и Compose, затем поднимем Harbor, отправим образ в registry и проверим уязвимости.</a:t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Материалы: Docker.pptx, Лекция 2, Docker.pdf, Лекция 2.1, Docker.pdf (Downloads).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Схема из Docker.pptx, слайд 2. Современную сборку выполняет BuildKit.</a:t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/>
              <a:t>Иллюстрация: «Лекция 2.pptx», слайды 13–14, ppt/media/image17.png. Справа показаны виртуальные машины, внутри которых также может работать Docker. Docker не является обязательной частью VM. Linux-контейнеры используют ядро Linux-хоста; в Docker Desktop этот хост находится в VM.</a:t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/>
              <a:t>Наглядный сокращённый пример Dockerfile на основе app/Dockerfile из этой презентации. Полный вариант с отдельным пользователем, порядком копирования зависимостей и exec-формой CMD показан далее на слайде «Dockerfile: сборка и запуск». EXPOSE описывает порт, но не публикует его. Образ содержит код, зависимости и настройки; контейнер — созданный из образа экземпляр с собственным слоем записи, он может работать или быть остановлен. Слои образа неизменяемы. Registry хранит и раздаёт образы; repository объединяет версии. Тег может указывать на новое содержимое; digest идентифицирует конкретное содержимое. В «Лекции 2.pptx», слайд 22, использован аналогичный формат примера с пояснениями инструкций.</a:t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https://docs.docker.com/reference/dockerfile/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https://docs.docker.com/build/building/best-practices/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Код соответствует app/Dockerfile в материалах. Без REDIS_HOST счётчик хранится в памяти.</a:t>
            </a:r>
            <a:endParaRPr/>
          </a:p>
        </p:txBody>
      </p:sp>
      <p:sp>
        <p:nvSpPr>
          <p:cNvPr id="233" name="Google Shape;23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Команды и критерии приведены в README.md материалов. При переходе к Compose остановить counter-demo, чтобы освободить порт 8080.</a:t>
            </a:r>
            <a:endParaRPr/>
          </a:p>
        </p:txBody>
      </p:sp>
      <p:sp>
        <p:nvSpPr>
          <p:cNvPr id="256" name="Google Shape;25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https://docs.docker.com/compose/how-tos/startup-order/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Полный файл app/compose.yaml включает также cap_drop и no-new-privileges. Это фрагмент для объяснения, копировать его со слайда не требуется.</a:t>
            </a:r>
            <a:endParaRPr/>
          </a:p>
        </p:txBody>
      </p:sp>
      <p:sp>
        <p:nvSpPr>
          <p:cNvPr id="270" name="Google Shape;27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https://docs.docker.com/engine/storage/volumes/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https://docs.docker.com/compose/intro/compose-application-model/</a:t>
            </a:r>
            <a:endParaRPr/>
          </a:p>
        </p:txBody>
      </p:sp>
      <p:sp>
        <p:nvSpPr>
          <p:cNvPr id="293" name="Google Shape;29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Берём файл из репозитория занятия. Копировать или собирать YAML из слайдов не нужно.</a:t>
            </a:r>
            <a:endParaRPr/>
          </a:p>
        </p:txBody>
      </p:sp>
      <p:sp>
        <p:nvSpPr>
          <p:cNvPr id="334" name="Google Shape;33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https://goharbor.io/docs/2.14.0/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https://goharbor.io/docs/2.14.0/administration/vulnerability-scanning/</a:t>
            </a:r>
            <a:endParaRPr/>
          </a:p>
        </p:txBody>
      </p:sp>
      <p:sp>
        <p:nvSpPr>
          <p:cNvPr id="348" name="Google Shape;34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Официальные образы v2.14.0. prepare запускается через prepare.compose.yaml, затем главный compose.yaml поднимает стек. Набор файлов в материалах.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https://github.com/goharbor/harbor/blob/v2.14.0/make/prepare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https://github.com/goharbor/harbor/blob/v2.14.0/make/photon/prepare/templates/docker_compose/docker-compose.yml.jinja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 только для лаборатории на одном компьютере.</a:t>
            </a:r>
            <a:endParaRPr/>
          </a:p>
        </p:txBody>
      </p:sp>
      <p:sp>
        <p:nvSpPr>
          <p:cNvPr id="359" name="Google Shape;35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https://goharbor.io/docs/2.14.0/working-with-projects/working-with-images/pulling-pushing-images/</a:t>
            </a:r>
            <a:endParaRPr/>
          </a:p>
        </p:txBody>
      </p:sp>
      <p:sp>
        <p:nvSpPr>
          <p:cNvPr id="379" name="Google Shape;37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Первый pull образов и базы Trivy может увеличить время задания. Учебные пароли находятся в .env.example и README. Живой запуск в среде подготовки не подтверждён.</a:t>
            </a:r>
            <a:endParaRPr/>
          </a:p>
        </p:txBody>
      </p:sp>
      <p:sp>
        <p:nvSpPr>
          <p:cNvPr id="397" name="Google Shape;39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/>
              <a:t>Материалы: Docker.pptx, Лекция 2, Docker.pdf, Лекция 2.1, Docker.pdf (Downloads).</a:t>
            </a:r>
            <a:endParaRPr/>
          </a:p>
        </p:txBody>
      </p:sp>
      <p:sp>
        <p:nvSpPr>
          <p:cNvPr id="421" name="Google Shape;4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https://www.man7.org/linux/man-pages/man7/namespaces.7.html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Иллюстрация: Docker.pptx, раздел namespaces. Автор Julia Evans (@b0rk), https://jvns.ca/blog/2020/04/27/new-zine-how-containers-work/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Комикс показывает исторический набор из семи namespaces. В Linux также есть time namespace.</a:t>
            </a:r>
            <a:endParaRPr/>
          </a:p>
        </p:txBody>
      </p:sp>
      <p:sp>
        <p:nvSpPr>
          <p:cNvPr id="431" name="Google Shape;431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https://docs.kernel.org/admin-guide/cgroup-v2.html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Иллюстрация: Docker.pptx, раздел cgroups. Автор Julia Evans (@b0rk), https://jvns.ca/blog/2020/04/27/new-zine-how-containers-work/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Рассматриваем cgroups v2. memory.max — жёсткая граница, возможен cgroup OOM. memory.high вызывает reclaim/throttling. CPU quota вызывает throttling.</a:t>
            </a:r>
            <a:endParaRPr/>
          </a:p>
        </p:txBody>
      </p:sp>
      <p:sp>
        <p:nvSpPr>
          <p:cNvPr id="442" name="Google Shape;442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https://docs.kernel.org/admin-guide/cgroup-v2.html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https://www.man7.org/linux/man-pages/man7/namespaces.7.html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https://docs.docker.com/engine/containers/resource_constraints/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Полный пример: advanced/cgroups/demo.sh. Файлы читаются внутри контейнера с приватным cgroup namespace. Конкретные inode namespaces зависят от запуска.</a:t>
            </a:r>
            <a:endParaRPr/>
          </a:p>
        </p:txBody>
      </p:sp>
      <p:sp>
        <p:nvSpPr>
          <p:cNvPr id="453" name="Google Shape;453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/>
              <a:t>Схема сохранена из исходной презентации: объединение нижнего слоя Lower и верхнего записываемого слоя Diff в Merged — файловое дерево, которое видит контейнер. OverlayFS объединяет слои образа только для чтения с верхним записываемым слоем. При изменении существующего файла он копируется в верхний слой (copy-up); сама иллюстрация показывает объединение деревьев. Данные контейнера исчезают при его удалении; постоянные данные выносят в volumes или bind mounts. Кэш сборки: изменение инструкции или её входных данных может потребовать пересборки последующих шагов; порядок COPY зависимостей и кода разобран на примере Dockerfile в базовой части.</a:t>
            </a:r>
            <a:endParaRPr/>
          </a:p>
        </p:txBody>
      </p:sp>
      <p:sp>
        <p:nvSpPr>
          <p:cNvPr id="472" name="Google Shape;47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https://docs.docker.com/build/building/multi-stage/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Код: advanced/multistage/Dockerfile. Go main.go входит в отдельный архив. Статический HTTP-сервис без TLS и внешних зависимостей. Scratch не содержит shell и CA bundle; это не универсальная замена runtime-образа. Версия Go зафиксирована для учебного примера.</a:t>
            </a:r>
            <a:endParaRPr/>
          </a:p>
        </p:txBody>
      </p:sp>
      <p:sp>
        <p:nvSpPr>
          <p:cNvPr id="481" name="Google Shape;48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https://github.com/hadolint/hadolint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https://github.com/hadolint/hadolint/pkgs/container/hadolint/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Файлы: advanced/hadolint/Dockerfile.bad, advanced/hadolint/Dockerfile.good, advanced/hadolint/lint.sh. Команды на слайде выполняются из корня репозитория и переходят в advanced/hadolint/. lint.sh передаёт выбранный Dockerfile через stdin в ghcr.io/hadolint/hadolint:v2.15.1. Хороший пример использует фиксированный тег Alpine и exec-форму CMD; curl удалён как ненужная зависимость. Если пакет нужен приложению, следует зафиксировать его версию и применять apk --no-cache. Плохой пример намеренно содержит DL3007, DL3018, DL3019 и DL3025. Линтер не выполняет сканирование образа на CVE.</a:t>
            </a:r>
            <a:endParaRPr/>
          </a:p>
        </p:txBody>
      </p:sp>
      <p:sp>
        <p:nvSpPr>
          <p:cNvPr id="502" name="Google Shape;502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Локальная подпись байтов архива docker save. Проверка требует доверенного открытого ключа. Повторный экспорт образа может изменить байты архива и требует отдельной подписи. Подпись не проверяет CVE. OpenSSL запросит пароль при создании и использовании зашифрованного приватного RSA-ключа. Полный пример и негативная проверка: advanced/openssl/README.md, https://github.com/inview-club/docker-workshop/blob/main/advanced/openssl/README.md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https://docs.openssl.org/3.0/man1/openssl-genpkey/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https://docs.openssl.org/3.0/man1/openssl-pkey/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https://docs.openssl.org/3.0/man1/openssl-dgst/</a:t>
            </a:r>
            <a:endParaRPr/>
          </a:p>
        </p:txBody>
      </p:sp>
      <p:sp>
        <p:nvSpPr>
          <p:cNvPr id="525" name="Google Shape;52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https://docs.docker.com/engine/storage/volumes/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Полный пример advanced/volumes/demo.sh использует уникальное имя volume, build seed-образа, копирование файлов при первом монтировании и чтение сохранённых данных. На слайде упрощённый пример. Название volume следует выбрать свободное.</a:t>
            </a:r>
            <a:endParaRPr/>
          </a:p>
        </p:txBody>
      </p:sp>
      <p:sp>
        <p:nvSpPr>
          <p:cNvPr id="545" name="Google Shape;545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/>
              <a:t>Форма обратной связи: https://docs.google.com/forms/d/e/1FAIpQLScwAOAJ-JNHaazLywTf4DxJ-_JdHFKr_8_pIVGtcnFnZmZdjA/viewform?usp=preview</a:t>
            </a:r>
            <a:endParaRPr/>
          </a:p>
        </p:txBody>
      </p:sp>
      <p:sp>
        <p:nvSpPr>
          <p:cNvPr id="563" name="Google Shape;563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[13:30–15:00] ФИНАЛ. QR должен висеть на экране всё время, пока ты отвечаешь на вопросы.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«Всё. Как попасть.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Левый QR — чат клуба, там пятьсот с лишним человек. Правый — канал с анонсами. Достаньте телефоны прямо сейчас, я подожду.»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Реально подожди пятнадцать секунд. Это единственный момент, когда зал конвертируется.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«Ближайшее: с тридцать первого августа по четвёртое сентября мы стоим на ярмарке клубов — приходите, там можно поиграть в наши штуки и познакомиться живьём. В сентябре — первая встреча.»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Закрытие, возврат к хуку из самого начала: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«И помните те четыре минуты, с которых я начала? Их кто-то отрепетировал заранее. Приходите учиться репетировать.»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Дальше — вопросы, слайд не переключаешь.</a:t>
            </a:r>
            <a:endParaRPr/>
          </a:p>
        </p:txBody>
      </p:sp>
      <p:sp>
        <p:nvSpPr>
          <p:cNvPr id="571" name="Google Shape;571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4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5.xml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hyperlink" Target="https://docs.google.com/forms/d/e/1FAIpQLScwAOAJ-JNHaazLywTf4DxJ-_JdHFKr_8_pIVGtcnFnZmZdjA/viewform?usp=preview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822960" y="822960"/>
            <a:ext cx="91440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inview@club:~$ </a:t>
            </a:r>
            <a:r>
              <a:rPr b="0" i="0" lang="en-US" sz="16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./join --practice-workshop</a:t>
            </a:r>
            <a:r>
              <a:rPr b="0" i="0" lang="en-US" sz="16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 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62000" y="1466850"/>
            <a:ext cx="5667375" cy="1857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1" i="0" lang="en-US" sz="99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1" i="0" sz="12800" u="none" cap="none" strike="noStrike">
              <a:solidFill>
                <a:srgbClr val="1818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620256" y="1572768"/>
            <a:ext cx="475500" cy="1079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19150" y="3257550"/>
            <a:ext cx="5572125" cy="125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Образы, Compose и свой Harbor</a:t>
            </a:r>
            <a:endParaRPr b="1" i="0" sz="26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822960" y="5416202"/>
            <a:ext cx="93270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Клуб IT-инфраструктуры Университета ИТМО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822960" y="4617720"/>
            <a:ext cx="10515600" cy="111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22960" y="5943600"/>
            <a:ext cx="73152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t.me/inview_club · https://inview.team/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5274" y="1137874"/>
            <a:ext cx="4805800" cy="48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822960" y="609600"/>
            <a:ext cx="10515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$ </a:t>
            </a:r>
            <a:r>
              <a:rPr b="0" i="0" lang="en-US" sz="14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cat </a:t>
            </a:r>
            <a:r>
              <a:rPr b="1" i="0" lang="en-US" sz="14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about.md</a:t>
            </a:r>
            <a:endParaRPr b="0" i="0" sz="14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822960" y="1066800"/>
            <a:ext cx="10515600" cy="96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822952" y="1428750"/>
            <a:ext cx="59799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inview</a:t>
            </a: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— клуб, который сделали студенты и сотрудники ИТМО: в Петербурге почти нет живых инфраструктурных сообществ.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Нас поддерживает факультет ПИН. Всё остальное — чистый </a:t>
            </a:r>
            <a:r>
              <a:rPr b="1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энтузиазм</a:t>
            </a: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: зарплату здесь никто не получает.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Приходят и </a:t>
            </a:r>
            <a:r>
              <a:rPr b="1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первокурсники</a:t>
            </a: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, и </a:t>
            </a:r>
            <a:r>
              <a:rPr b="1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senior-инженеры</a:t>
            </a: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, не только из ИТМО — каждому есть что спросить и что рассказать</a:t>
            </a:r>
            <a:r>
              <a:rPr b="0" i="0" lang="en-US" sz="2000" u="none" cap="none" strike="noStrike">
                <a:solidFill>
                  <a:srgbClr val="3F3F4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22960" y="4762500"/>
            <a:ext cx="10515600" cy="96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22960" y="5048250"/>
            <a:ext cx="857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800+ </a:t>
            </a:r>
            <a:r>
              <a:rPr b="0" i="0" lang="en-US" sz="15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человек</a:t>
            </a:r>
            <a:r>
              <a:rPr b="1" i="0" lang="en-US" sz="3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      77 ★ </a:t>
            </a:r>
            <a:r>
              <a:rPr b="0" i="0" lang="en-US" sz="15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на devops-cases</a:t>
            </a:r>
            <a:r>
              <a:rPr b="1" i="0" lang="en-US" sz="3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      44 </a:t>
            </a:r>
            <a:r>
              <a:rPr b="0" i="0" lang="en-US" sz="15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форка</a:t>
            </a:r>
            <a:endParaRPr b="1" i="0" sz="32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22960" y="6096000"/>
            <a:ext cx="54864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$ </a:t>
            </a:r>
            <a:r>
              <a:rPr b="0" i="0" lang="en-US" sz="120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кто мы</a:t>
            </a:r>
            <a:endParaRPr b="0" i="0" sz="12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6749" y="1561024"/>
            <a:ext cx="4076293" cy="2716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0450" y="1973275"/>
            <a:ext cx="5349627" cy="368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658368" y="566928"/>
            <a:ext cx="10881300" cy="3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$ </a:t>
            </a:r>
            <a:r>
              <a:rPr b="0" i="0" lang="en-US" sz="13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cat </a:t>
            </a:r>
            <a:r>
              <a:rPr b="1" i="0" lang="en-US" sz="13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what-we-do.md</a:t>
            </a:r>
            <a:endParaRPr b="0" i="0" sz="13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58368" y="1024128"/>
            <a:ext cx="5760600" cy="11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58368" y="1298448"/>
            <a:ext cx="108813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0"/>
              <a:buFont typeface="Arial"/>
              <a:buNone/>
            </a:pPr>
            <a:r>
              <a:rPr b="1" i="0" lang="en-US" sz="248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Что здесь вообще происходит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58368" y="2103120"/>
            <a:ext cx="5898000" cy="402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▸ </a:t>
            </a:r>
            <a:r>
              <a:rPr b="1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Митапы и дискуссии</a:t>
            </a:r>
            <a:endParaRPr b="0" i="0" sz="17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с действующими инженерами из крупных компаний</a:t>
            </a:r>
            <a:endParaRPr b="0" i="0" sz="13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▸ </a:t>
            </a:r>
            <a:r>
              <a:rPr b="1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Воркшопы</a:t>
            </a:r>
            <a:endParaRPr b="0" i="0" sz="17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приносишь ноутбук — уходишь с работающей штукой</a:t>
            </a:r>
            <a:endParaRPr b="0" i="0" sz="13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▸ </a:t>
            </a:r>
            <a:r>
              <a:rPr b="1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Open-source кейсы</a:t>
            </a:r>
            <a:endParaRPr b="0" i="0" sz="17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на GitHub, проходятся самостоятельно и бесплатно</a:t>
            </a:r>
            <a:endParaRPr b="0" i="0" sz="13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▸ </a:t>
            </a:r>
            <a:r>
              <a:rPr b="1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Выезд на турбазу</a:t>
            </a:r>
            <a:endParaRPr b="0" i="0" sz="17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доклады днём, разговоры про прод у костра ночью</a:t>
            </a:r>
            <a:endParaRPr b="0" i="0" sz="13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▸ </a:t>
            </a:r>
            <a:r>
              <a:rPr b="1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Живой чат и канал</a:t>
            </a:r>
            <a:endParaRPr b="0" i="0" sz="17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можно задать глупый вопрос и не получить по шапке</a:t>
            </a:r>
            <a:endParaRPr b="0" i="0" sz="13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58368" y="6355080"/>
            <a:ext cx="54864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$ </a:t>
            </a:r>
            <a:r>
              <a:rPr b="0" i="0" lang="en-US" sz="11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форматы</a:t>
            </a:r>
            <a:endParaRPr b="0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h15da47242f20b82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400" y="0"/>
            <a:ext cx="12310401" cy="6928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h15da47242f20b82f_0_1"/>
          <p:cNvSpPr txBox="1"/>
          <p:nvPr/>
        </p:nvSpPr>
        <p:spPr>
          <a:xfrm>
            <a:off x="320400" y="202725"/>
            <a:ext cx="742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Экшн-игра “Заброшенный ЦОД”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h15da47242f20b82f_0_1"/>
          <p:cNvSpPr txBox="1"/>
          <p:nvPr/>
        </p:nvSpPr>
        <p:spPr>
          <a:xfrm>
            <a:off x="1199825" y="1074575"/>
            <a:ext cx="512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ноября с 18:00 до 20:30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h15da47242f20b82f_0_1" title="80f3ab0ec97758b2a822d2da7ef1d2b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7013" y="2576900"/>
            <a:ext cx="3806426" cy="380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h15da47242f20b82f_0_1"/>
          <p:cNvSpPr txBox="1"/>
          <p:nvPr/>
        </p:nvSpPr>
        <p:spPr>
          <a:xfrm>
            <a:off x="424800" y="1751663"/>
            <a:ext cx="512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Стоимость: 3000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657225" y="4953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Что сегодня сделаем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28675" y="1685925"/>
            <a:ext cx="5143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Базовая часть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257925" y="1685925"/>
            <a:ext cx="5143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Advanced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28675" y="2447925"/>
            <a:ext cx="514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Контейнеры, образы и registry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28675" y="3143250"/>
            <a:ext cx="514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Dockerfile и сборка образа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28675" y="3838575"/>
            <a:ext cx="514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Compose: приложение и Redis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28675" y="4533900"/>
            <a:ext cx="514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Harbor: push, pull и сканирование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257925" y="2447925"/>
            <a:ext cx="514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Chroot, namespaces и cgroups v2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257925" y="3143250"/>
            <a:ext cx="514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OverlayFS, multistage и Hadolint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257925" y="3838575"/>
            <a:ext cx="514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Подпись через OpenSSL и volumes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28675" y="575310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Результат базы: свой образ в Harbor и отчёт 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Базовая часть: Docker и Harbor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28675" y="1695450"/>
            <a:ext cx="1047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inview@club:~$ ./docker --basic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28675" y="3781425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Контейнеры и образы: как устроен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28675" y="4533900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Практика: Dockerfile и Compose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28675" y="528637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Harbor: хранение образов и сканирование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657225" y="4953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Архитектура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4985" y="1476375"/>
            <a:ext cx="7626779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/>
          <p:nvPr/>
        </p:nvSpPr>
        <p:spPr>
          <a:xfrm>
            <a:off x="828675" y="6019800"/>
            <a:ext cx="10477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CLI отправляет запросы daemon. Сборку образов выполняет BuildKit.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657225" y="4953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Контейнер и виртуальная машина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58051" t="23297"/>
          <a:stretch/>
        </p:blipFill>
        <p:spPr>
          <a:xfrm>
            <a:off x="1333500" y="2257044"/>
            <a:ext cx="3621024" cy="319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42797" r="0" t="0"/>
          <a:stretch/>
        </p:blipFill>
        <p:spPr>
          <a:xfrm>
            <a:off x="6581775" y="1287780"/>
            <a:ext cx="4937760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809625" y="56197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Контейнеры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572250" y="5619750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Виртуальные машины</a:t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09625" y="6096000"/>
            <a:ext cx="4762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Общее ядро Linux-хоста.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В Docker Desktop Linux работает в VM.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572250" y="6096000"/>
            <a:ext cx="4953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Своя гостевая ОС и ядро.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Внутри VM тоже могут быть контейнеры.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657225" y="4953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Dockerfile, образ и контейнер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28675" y="1504950"/>
            <a:ext cx="5810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Dockerfile — инструкции для сборки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828675" y="2133600"/>
            <a:ext cx="6334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8181B"/>
                </a:solidFill>
                <a:latin typeface="Courier New"/>
                <a:ea typeface="Courier New"/>
                <a:cs typeface="Courier New"/>
                <a:sym typeface="Courier New"/>
              </a:rPr>
              <a:t>FROM python:3.12-slim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7667625" y="2133600"/>
            <a:ext cx="3714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Базовый образ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28675" y="2686050"/>
            <a:ext cx="6334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8181B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7667625" y="2686050"/>
            <a:ext cx="3714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Рабочий каталог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28675" y="3238500"/>
            <a:ext cx="6334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8181B"/>
                </a:solidFill>
                <a:latin typeface="Courier New"/>
                <a:ea typeface="Courier New"/>
                <a:cs typeface="Courier New"/>
                <a:sym typeface="Courier New"/>
              </a:rPr>
              <a:t>COPY . .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667625" y="3238500"/>
            <a:ext cx="3714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Файлы приложения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828675" y="3790950"/>
            <a:ext cx="6334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8181B"/>
                </a:solidFill>
                <a:latin typeface="Courier New"/>
                <a:ea typeface="Courier New"/>
                <a:cs typeface="Courier New"/>
                <a:sym typeface="Courier New"/>
              </a:rPr>
              <a:t>RUN pip install -r requirements.txt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7667625" y="3790950"/>
            <a:ext cx="3714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Установка зависимостей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828675" y="4343400"/>
            <a:ext cx="6334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8181B"/>
                </a:solidFill>
                <a:latin typeface="Courier New"/>
                <a:ea typeface="Courier New"/>
                <a:cs typeface="Courier New"/>
                <a:sym typeface="Courier New"/>
              </a:rPr>
              <a:t>EXPOSE 8080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7667625" y="4343400"/>
            <a:ext cx="3714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Описание порта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828675" y="4895850"/>
            <a:ext cx="6334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8181B"/>
                </a:solidFill>
                <a:latin typeface="Courier New"/>
                <a:ea typeface="Courier New"/>
                <a:cs typeface="Courier New"/>
                <a:sym typeface="Courier New"/>
              </a:rPr>
              <a:t>CMD ["python", "app.py"]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667625" y="4895850"/>
            <a:ext cx="3714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Команда запуска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828675" y="5657850"/>
            <a:ext cx="10572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docker build → образ → docker run → контейнер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828675" y="6191250"/>
            <a:ext cx="10572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Registry хранит образы; repository объединяет версии. Тег может меняться, digest — идентификатор содержимого.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Первый контейнер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828675" y="1504950"/>
            <a:ext cx="10572750" cy="436245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057275" y="1695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Публикуем порт только на этом компьютере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1057275" y="2000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run -d --name web-demo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1057275" y="23050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-p 127.0.0.1:8080:80 nginx:stable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057275" y="26098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057275" y="29146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Проверяем ответ, логи и конфигурацию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057275" y="3219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curl http://localhost:8080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057275" y="3524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logs web-demo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057275" y="38290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exec web-demo nginx -t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057275" y="41338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057275" y="44386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Контейнер удаляем, образ остаётся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057275" y="4743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stop web-demo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057275" y="5048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rm web-demo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828675" y="6181725"/>
            <a:ext cx="1047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-d — запуск в фоне. -p — порт хоста:порт контейнера.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/>
          <p:nvPr/>
        </p:nvSpPr>
        <p:spPr>
          <a:xfrm>
            <a:off x="657225" y="4953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Задание 1. Запуск контейнера (10 минут)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828675" y="1685925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1) Запустить nginx и открыть страницу в браузере.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828675" y="2543175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2) Посмотреть статус, логи и конфигурацию nginx.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828675" y="3400425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3) Остановить контейнер и найти его через docker ps -a.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828675" y="4257675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4) Удалить контейнер. Проверить, остался ли образ.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8534400" y="158115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hints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8534400" y="2324100"/>
            <a:ext cx="2905125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ps -a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logs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exec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828675" y="5762625"/>
            <a:ext cx="10477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Готово: объясняете разницу между образом и контейнером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Dockerfile: сборка и запуск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828675" y="1504950"/>
            <a:ext cx="10572750" cy="4619625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1057275" y="1695450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Python и рабочий каталог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1057275" y="1966913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FROM python:3.12-slim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1057275" y="2238375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WORKDIR /app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057275" y="2509838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ENV PYTHONDONTWRITEBYTECODE=1 PYTHONUNBUFFERED=1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1057275" y="2781300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Сначала зависимости: сохраняем кэш их установки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1057275" y="3052763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COPY requirements.txt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1057275" y="3324225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RUN pip install --no-cache-dir -r requirements.txt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1057275" y="3595688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Файлы и процесс приложения принадлежат UID 10001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1057275" y="3867150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RUN useradd --uid 10001 --create-home appuser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1057275" y="4138613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COPY --chown=10001:10001 app.py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1057275" y="4410075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USER 10001:10001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1057275" y="4681538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EXPOSE описывает порт, но не публикует его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1057275" y="4953000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EXPOSE 8080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057275" y="5224463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Exec-форма для корректной доставки сигналов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1057275" y="5495925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CMD ["python", "app.py"]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828675" y="628650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Полный пример: app/Dockerfile. Приложение и зависимости рядом.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Задание 2. Сборка образа (15 минут)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828675" y="1724025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1) Открыть каталог app/ из репозитория занятия.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828675" y="2486025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2) Разобрать Dockerfile и собрать club-demo:1.0.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828675" y="3248025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3) Запустить образ на localhost:8080 и проверить /health.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828675" y="4010025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4) Проверить UID процесса через команду 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828675" y="4772025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5) Изменить app.py и посмотреть, какие шаги используют кэш.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8972550" y="165735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hints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8972550" y="2419350"/>
            <a:ext cx="238125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history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curl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828675" y="5895975"/>
            <a:ext cx="105251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Готово: HTTP-сервис отвечает, процесс работает с UID 10001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Compose: сервис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828675" y="1504950"/>
            <a:ext cx="10572750" cy="4619625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1057275" y="1695450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services: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1057275" y="1966913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web: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1057275" y="2238375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    # Сборка из Dockerfile и имя готового образа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1057275" y="2509838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build: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1057275" y="2781300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image: club-demo:1.0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1057275" y="3052763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ports: ["127.0.0.1:8080:8080"]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1057275" y="3324225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environment: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1057275" y="3595688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      # Имя Redis в общей сети Compose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1057275" y="3867150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  REDIS_HOST: redis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1057275" y="4138613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depends_on: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1057275" y="4410075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  redis: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057275" y="4681538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    condition: service_healthy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1057275" y="4953000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    # Процесс без записи в корневую ФС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1057275" y="5224463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read_only: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1057275" y="5495925"/>
            <a:ext cx="100965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tmpfs: ["/tmp"]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828675" y="628650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Полный файл уже лежит в app/compose.yaml. Следующий слайд: Redis.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Compose: Redis и постоянные данные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828675" y="1504950"/>
            <a:ext cx="10572750" cy="4524375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1057275" y="169545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redis: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057275" y="199072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image: redis:7.4-alpine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1057275" y="228600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    # Сохраняем счётчик в append-only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1057275" y="258127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command: ["redis-server", "--appendonly", "yes"]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1057275" y="287655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volumes: ["redis-data:/data"]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057275" y="317182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healthcheck: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057275" y="346710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  test: ["CMD", "redis-cli", "ping"]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057275" y="376237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  interval: 5s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1057275" y="405765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  timeout: 3s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1057275" y="435292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  retries: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1057275" y="464820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volumes: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057275" y="494347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  # Volume сохраняется после обычного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057275" y="523875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redis-data: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828675" y="6191250"/>
            <a:ext cx="10572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Сеть Compose создаётся автоматически. Версия файла version не нужна.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Запуск, диагностика и остановка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828675" y="1504950"/>
            <a:ext cx="10572750" cy="4429125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1057275" y="1695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Работаем в каталоге app/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1057275" y="2000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compose config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1057275" y="23050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compose up -d --build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1057275" y="26098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curl http://localhost:8080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1057275" y="29146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1057275" y="3219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Проверяем сервисы и данные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1057275" y="3524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compose 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1057275" y="38290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compose exec redis redis-cli GET visits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1057275" y="41338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1057275" y="44386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Пересоздаём контейнеры, сохраняя volume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1057275" y="4743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compose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1057275" y="5048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compose up -d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828675" y="6191250"/>
            <a:ext cx="1047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Для приложения down -v удалит volume и счётчик.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Задание 3. Compose (15 минут)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828675" y="1724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1) Открыть готовый app/compose.yaml и разобрать настройки.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828675" y="2486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2) Остановить отдельный контейнер из задания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828675" y="3248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3) Запустить стек и открыть localhost:8080 несколько раз.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828675" y="4010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4) Проверить счётчик через redis-cli.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828675" y="4772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5) Выполнить down, затем up и проверить сохранность данных.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9124950" y="1676400"/>
            <a:ext cx="2238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hints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9124950" y="2409825"/>
            <a:ext cx="2238375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 config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 up -d --build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 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 exec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828675" y="6010275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Готово: web отвечает, Redis healthy, счётчик сохраняется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/>
          <p:nvPr/>
        </p:nvSpPr>
        <p:spPr>
          <a:xfrm>
            <a:off x="657225" y="4953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Harbor: свой registry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828675" y="1685925"/>
            <a:ext cx="104298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Harbor хранит OCI-образы и другие артефакты в проектах.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828675" y="2571750"/>
            <a:ext cx="104298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Приватные проекты ограничивают доступ к образам.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Robot accounts дают автоматизации отдельные права.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828675" y="3457575"/>
            <a:ext cx="104298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Trivy анализирует содержимое образа на известные уязвимости.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828675" y="4343400"/>
            <a:ext cx="104298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Квоты и правила retention помогают управлять диском.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828675" y="5229225"/>
            <a:ext cx="104298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Harbor запускается набором готовых образов через Compose.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Harbor: локальный запуск через Compose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828675" y="1504950"/>
            <a:ext cx="10572750" cy="4448175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1057275" y="1695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В репозитории занятия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1057275" y="2000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cd harbor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1057275" y="23050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1057275" y="26098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Официальный prepare создаёт настройки и ключи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1057275" y="29146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bash prepare.sh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1057275" y="3219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1057275" y="3524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Официальные образы Harbor и 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1057275" y="38290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compose up -d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1057275" y="41338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compose 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1057275" y="44386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1057275" y="47434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Проверка готовности, а не только статуса контейнеров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1057275" y="5048250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curl -fsS http://localhost:8081/api/v2.0/health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828675" y="619125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Портал: http://localhost:8081. Данные: harbor/runtime/.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Push и pull нашего образа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828675" y="1504950"/>
            <a:ext cx="10572750" cy="438150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1057275" y="169545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Приватный проект club заранее создаём в портале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1057275" y="202882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login localhost:8081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1057275" y="236220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057275" y="269557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Публикуем образ из задания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1057275" y="302895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tag club-demo:1.0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1057275" y="336232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localhost:8081/club/counter:1.0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1057275" y="369570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push localhost:8081/club/counter:1.0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1057275" y="402907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1057275" y="436245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Проверяем получение образа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1057275" y="469582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pull localhost:8081/club/counter:1.0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828675" y="6162675"/>
            <a:ext cx="10572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Пароль вводим интерактивно. В имени образа нет http://.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Задание 4. Свой Harbor (25 минут)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828675" y="1724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1) Открыть harbor/ и запустить prepare.sh, затем Compose.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828675" y="2486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2) Дождаться healthy и открыть localhost:8081.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828675" y="3248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3) Создать приватный проект club и квоту.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828675" y="4010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4) Опубликовать counter:1.0 и открыть завершённый отчёт Trivy.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828675" y="4772025"/>
            <a:ext cx="7810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818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9077325" y="1657350"/>
            <a:ext cx="228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hints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9077325" y="2400300"/>
            <a:ext cx="2286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bash prepare.sh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 up -d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 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 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push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docker pull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828675" y="6010275"/>
            <a:ext cx="10572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Готово: образ сохраняется, push/pull работают, scan завершён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Advanced: глубже в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828675" y="1695450"/>
            <a:ext cx="1047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inview@club:~$ ./docker --advanced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828675" y="3781425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Изоляция: chroot → namespaces → cgroups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828675" y="4533900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Файлы и сборка: OverlayFS, multistage, Hadolint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828675" y="528637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Доверие и данные: подпись образов и volumes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"/>
          <p:cNvSpPr/>
          <p:nvPr/>
        </p:nvSpPr>
        <p:spPr>
          <a:xfrm>
            <a:off x="657225" y="4953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Chroot: корень файловой системы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828675" y="1685925"/>
            <a:ext cx="10477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chroot меняет корневую директорию процесса.</a:t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828675" y="2647950"/>
            <a:ext cx="10477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Процесс видит выбранный каталог как /; файлы и библиотеки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для приложения нужно подготовить внутри этого каталога.</a:t>
            </a:r>
            <a:endParaRPr/>
          </a:p>
        </p:txBody>
      </p:sp>
      <p:sp>
        <p:nvSpPr>
          <p:cNvPr id="426" name="Google Shape;426;p8"/>
          <p:cNvSpPr/>
          <p:nvPr/>
        </p:nvSpPr>
        <p:spPr>
          <a:xfrm>
            <a:off x="828675" y="3933825"/>
            <a:ext cx="10477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Сам по себе chroot не изолирует процессы, сеть и ресурсы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и не заменяет полноценную изоляцию контейнера.</a:t>
            </a:r>
            <a:endParaRPr/>
          </a:p>
        </p:txBody>
      </p:sp>
      <p:sp>
        <p:nvSpPr>
          <p:cNvPr id="427" name="Google Shape;427;p8"/>
          <p:cNvSpPr/>
          <p:nvPr/>
        </p:nvSpPr>
        <p:spPr>
          <a:xfrm>
            <a:off x="828675" y="56483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Дальше: namespaces → cgroups → OverlayFS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Namespaces: что видит процесс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1328833"/>
            <a:ext cx="7810500" cy="499091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5"/>
          <p:cNvSpPr/>
          <p:nvPr/>
        </p:nvSpPr>
        <p:spPr>
          <a:xfrm>
            <a:off x="8877300" y="1714500"/>
            <a:ext cx="2686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PID: свои номера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и список процессов.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8877300" y="2981325"/>
            <a:ext cx="26860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NET: интерфейсы,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маршруты и порты.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8877300" y="4248150"/>
            <a:ext cx="26860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MNT: отдельное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дерево монтирований.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828675" y="6467475"/>
            <a:ext cx="10668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Процессы могут разделять namespace. В Linux есть и time namespace.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Cgroups: сколько ресурсов доступно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828" y="1323975"/>
            <a:ext cx="7673593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6"/>
          <p:cNvSpPr/>
          <p:nvPr/>
        </p:nvSpPr>
        <p:spPr>
          <a:xfrm>
            <a:off x="8877300" y="1619250"/>
            <a:ext cx="26860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Одна группа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для нескольких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процессов.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8877300" y="3095625"/>
            <a:ext cx="26860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CPU: квота времени.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При исчерпании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процесс ждёт.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8877300" y="4714875"/>
            <a:ext cx="26860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Память: жёсткий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лимит может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привести к OOM.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6"/>
          <p:cNvSpPr/>
          <p:nvPr/>
        </p:nvSpPr>
        <p:spPr>
          <a:xfrm>
            <a:off x="828675" y="6467475"/>
            <a:ext cx="10668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Namespaces задают представление ресурсов. Cgroups учитывают и ограничивают их.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Cgroups v2: читаем настройки ядра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828675" y="1504950"/>
            <a:ext cx="10572750" cy="417195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1057275" y="169545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Читаем Linux-настройки внутри контейнера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1057275" y="201930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run --rm --cpus=0.5 --memory=64m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1057275" y="234315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python:3.12-slim sh -c 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1057275" y="266700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ls -l /proc/1/ns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1057275" y="299085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cat /sys/fs/cgroup/cpu.max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1057275" y="331470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  cat /sys/fs/cgroup/memory.max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7"/>
          <p:cNvSpPr/>
          <p:nvPr/>
        </p:nvSpPr>
        <p:spPr>
          <a:xfrm>
            <a:off x="1057275" y="363855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7"/>
          <p:cNvSpPr/>
          <p:nvPr/>
        </p:nvSpPr>
        <p:spPr>
          <a:xfrm>
            <a:off x="1057275" y="396240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1057275" y="428625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Пример cpu.max: 50000 100000 (микросекунды)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1057275" y="461010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До 50 мс CPU-времени на период 100 мс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1057275" y="4933950"/>
            <a:ext cx="10096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memory.max: 67108864 байт = 64 MiB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828675" y="6010275"/>
            <a:ext cx="10477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Полный пример: advanced/cgroups/demo.sh. Требуется cgroups v2.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В Docker Desktop и Colima ядро Linux находится внутри VM.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1"/>
          <p:cNvSpPr/>
          <p:nvPr/>
        </p:nvSpPr>
        <p:spPr>
          <a:xfrm>
            <a:off x="657225" y="4953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OverlayFS: слои и кэш сборки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2404" y="1314450"/>
            <a:ext cx="8207192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1"/>
          <p:cNvSpPr/>
          <p:nvPr/>
        </p:nvSpPr>
        <p:spPr>
          <a:xfrm>
            <a:off x="828675" y="5886450"/>
            <a:ext cx="1066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Lower — слои образа     Diff — слой записи     Merged — вид контейнера</a:t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828675" y="62865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2525B"/>
                </a:solidFill>
                <a:latin typeface="Arial"/>
                <a:ea typeface="Arial"/>
                <a:cs typeface="Arial"/>
                <a:sym typeface="Arial"/>
              </a:rPr>
              <a:t>При удалении контейнера слой записи исчезает. Данные храним в volumes.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Multistage: сборка отдельно от запуска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828675" y="1504950"/>
            <a:ext cx="10572750" cy="421005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1057275" y="1695450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Сборочный этап с компилятором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1057275" y="2009775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FROM golang:1.24.6-alpine AS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1057275" y="2324100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WORKDIR /src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1057275" y="2638425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COPY main.go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1057275" y="2952750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RUN CGO_ENABLED=0 go build -trimpath -o /out/server main.go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1057275" y="3267075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1057275" y="3581400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В runtime переносим только результат сборки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1057275" y="3895725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FROM scratch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1057275" y="4210050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COPY --from=build /out/server /server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1057275" y="4524375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USER 10001:10001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/>
          <p:nvPr/>
        </p:nvSpPr>
        <p:spPr>
          <a:xfrm>
            <a:off x="1057275" y="4838700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EXPOSE 8080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1057275" y="5153025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ENTRYPOINT ["/server"]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828675" y="6086475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Компилятор и исходники остаются в build. В scratch нет shell и корневых сертификатов.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828675" y="5743575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Файлы примера: advanced/multistage/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Hadolint: плохой и хороший Dockerfile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9"/>
          <p:cNvSpPr/>
          <p:nvPr/>
        </p:nvSpPr>
        <p:spPr>
          <a:xfrm>
            <a:off x="828675" y="1419225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Dockerfile.bad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6257925" y="1419225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Dockerfile.good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9"/>
          <p:cNvSpPr/>
          <p:nvPr/>
        </p:nvSpPr>
        <p:spPr>
          <a:xfrm>
            <a:off x="828675" y="1857375"/>
            <a:ext cx="5143500" cy="152400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/>
          <p:nvPr/>
        </p:nvSpPr>
        <p:spPr>
          <a:xfrm>
            <a:off x="6257925" y="1857375"/>
            <a:ext cx="5143500" cy="152400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1057275" y="2047875"/>
            <a:ext cx="46863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FROM alpine:latest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9"/>
          <p:cNvSpPr/>
          <p:nvPr/>
        </p:nvSpPr>
        <p:spPr>
          <a:xfrm>
            <a:off x="1057275" y="2390775"/>
            <a:ext cx="46863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RUN apk add curl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9"/>
          <p:cNvSpPr/>
          <p:nvPr/>
        </p:nvSpPr>
        <p:spPr>
          <a:xfrm>
            <a:off x="1057275" y="2733675"/>
            <a:ext cx="46863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CMD echo 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9"/>
          <p:cNvSpPr/>
          <p:nvPr/>
        </p:nvSpPr>
        <p:spPr>
          <a:xfrm>
            <a:off x="6486525" y="2047875"/>
            <a:ext cx="46863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FROM alpine:3.21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6486525" y="2390775"/>
            <a:ext cx="46863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CMD ["echo", "hello"]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9"/>
          <p:cNvSpPr/>
          <p:nvPr/>
        </p:nvSpPr>
        <p:spPr>
          <a:xfrm>
            <a:off x="828675" y="3552825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В хорошем примере curl удалён: для echo он не нужен.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828675" y="4095750"/>
            <a:ext cx="10572750" cy="150495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1057275" y="4257675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Из корня репозитория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1057275" y="4562475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cd advanced/hadolint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1057275" y="4867275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bash lint.sh Dockerfile.good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1057275" y="5172075"/>
            <a:ext cx="10096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bash lint.sh Dockerfile.bad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9"/>
          <p:cNvSpPr/>
          <p:nvPr/>
        </p:nvSpPr>
        <p:spPr>
          <a:xfrm>
            <a:off x="828675" y="5838825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Хороший: код 0. Плохой: DL3007, DL3018, DL3019, DL3025 и код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9"/>
          <p:cNvSpPr/>
          <p:nvPr/>
        </p:nvSpPr>
        <p:spPr>
          <a:xfrm>
            <a:off x="828675" y="632460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Hadolint проверяет Dockerfile. Проверку CVE выполняет сканер образа.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0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OpenSSL: локальная подпись образа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0"/>
          <p:cNvSpPr/>
          <p:nvPr/>
        </p:nvSpPr>
        <p:spPr>
          <a:xfrm>
            <a:off x="828675" y="1438275"/>
            <a:ext cx="1047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Подписываем архив docker save. OpenSSL запросит пароль приватного ключа.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828675" y="2143125"/>
            <a:ext cx="10572750" cy="333375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0"/>
          <p:cNvSpPr/>
          <p:nvPr/>
        </p:nvSpPr>
        <p:spPr>
          <a:xfrm>
            <a:off x="1057275" y="233362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umask 077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1057275" y="262890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save -o image.tar club-advanced:1.0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1057275" y="292417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openssl genpkey -algorithm RSA -pkeyopt rsa_keygen_bits:2048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1057275" y="321945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-aes-256-cbc -out signing.key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1057275" y="351472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openssl pkey -in signing.key -pubout -out signing.pub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828675" y="56959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Открытый ключ получаем из доверенного источника. Приватный ключ храним отдельно.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828675" y="638175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Docker и Harbor автоматически не проверяют эту подпись. Проверяем архив до docker load.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1057275" y="381000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openssl dgst -sha256 -sign signing.key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1057275" y="410527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-out image.tar.sig image.tar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1057275" y="440055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openssl dgst -sha256 -verify signing.pub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1057275" y="4695825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-signature image.tar.sig image.tar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1057275" y="4991100"/>
            <a:ext cx="1009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Verified 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1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Volumes: контейнер удалён, файл остался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828675" y="1504950"/>
            <a:ext cx="10572750" cy="3886200"/>
          </a:xfrm>
          <a:prstGeom prst="rect">
            <a:avLst/>
          </a:prstGeom>
          <a:solidFill>
            <a:srgbClr val="16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1057275" y="169545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Выберите новое имя учебного volume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1057275" y="202882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volume create club-data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1"/>
          <p:cNvSpPr/>
          <p:nvPr/>
        </p:nvSpPr>
        <p:spPr>
          <a:xfrm>
            <a:off x="1057275" y="236220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Первый контейнер пишет файл и удаляется (--rm)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1"/>
          <p:cNvSpPr/>
          <p:nvPr/>
        </p:nvSpPr>
        <p:spPr>
          <a:xfrm>
            <a:off x="1057275" y="269557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run --rm -v club-data:/data alpine:3.21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1057275" y="302895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sh -c 'echo hello &gt; /data/result.txt'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1057275" y="336232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1"/>
          <p:cNvSpPr/>
          <p:nvPr/>
        </p:nvSpPr>
        <p:spPr>
          <a:xfrm>
            <a:off x="1057275" y="369570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C69D"/>
                </a:solidFill>
                <a:latin typeface="Arial"/>
                <a:ea typeface="Arial"/>
                <a:cs typeface="Arial"/>
                <a:sym typeface="Arial"/>
              </a:rPr>
              <a:t># Второй контейнер читает тот же volume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1"/>
          <p:cNvSpPr/>
          <p:nvPr/>
        </p:nvSpPr>
        <p:spPr>
          <a:xfrm>
            <a:off x="1057275" y="402907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run --rm -v club-data:/data:ro alpine:3.21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1057275" y="436245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  cat /data/result.txt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1057275" y="4695825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docker volume inspect club-data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828675" y="58293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Полный пример: advanced/volumes/demo.sh.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Дополнительно проверяем копирование файлов из образа.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"/>
          <p:cNvSpPr/>
          <p:nvPr/>
        </p:nvSpPr>
        <p:spPr>
          <a:xfrm>
            <a:off x="657225" y="495300"/>
            <a:ext cx="1085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Обратная связь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142875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/>
          <p:nvPr/>
        </p:nvSpPr>
        <p:spPr>
          <a:xfrm>
            <a:off x="3714750" y="6172200"/>
            <a:ext cx="4762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sng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Открыть форму обратной связи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"/>
          <p:cNvSpPr/>
          <p:nvPr/>
        </p:nvSpPr>
        <p:spPr>
          <a:xfrm>
            <a:off x="822960" y="822960"/>
            <a:ext cx="100584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inview@club:~$ </a:t>
            </a:r>
            <a:r>
              <a:rPr b="0" i="0" lang="en-US" sz="15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./join.sh</a:t>
            </a:r>
            <a:r>
              <a:rPr b="0" i="0" lang="en-US" sz="15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 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3"/>
          <p:cNvSpPr/>
          <p:nvPr/>
        </p:nvSpPr>
        <p:spPr>
          <a:xfrm>
            <a:off x="777240" y="1371600"/>
            <a:ext cx="73152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Приходи.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3"/>
          <p:cNvSpPr/>
          <p:nvPr/>
        </p:nvSpPr>
        <p:spPr>
          <a:xfrm>
            <a:off x="5257933" y="1630042"/>
            <a:ext cx="6675000" cy="10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46"/>
                </a:solidFill>
                <a:latin typeface="Arial"/>
                <a:ea typeface="Arial"/>
                <a:cs typeface="Arial"/>
                <a:sym typeface="Arial"/>
              </a:rPr>
              <a:t>Уровень не важен: на встрече рядом сидят первый курс и senior с десятью годами. Интересно всем.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3"/>
          <p:cNvSpPr/>
          <p:nvPr/>
        </p:nvSpPr>
        <p:spPr>
          <a:xfrm>
            <a:off x="822960" y="3611880"/>
            <a:ext cx="6675000" cy="111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3"/>
          <p:cNvSpPr/>
          <p:nvPr/>
        </p:nvSpPr>
        <p:spPr>
          <a:xfrm>
            <a:off x="822960" y="6305017"/>
            <a:ext cx="731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партнерства и доклады: </a:t>
            </a:r>
            <a:r>
              <a:rPr b="1" i="0" lang="en-US" sz="1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@ch4t5ky</a:t>
            </a:r>
            <a:endParaRPr b="0" i="0" sz="140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8" name="Google Shape;57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3078" y="2846197"/>
            <a:ext cx="2564850" cy="256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3"/>
          <p:cNvSpPr/>
          <p:nvPr/>
        </p:nvSpPr>
        <p:spPr>
          <a:xfrm>
            <a:off x="3129686" y="5506031"/>
            <a:ext cx="16917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чат клуба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7200" y="2863450"/>
            <a:ext cx="2564850" cy="256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3"/>
          <p:cNvSpPr/>
          <p:nvPr/>
        </p:nvSpPr>
        <p:spPr>
          <a:xfrm>
            <a:off x="6903777" y="5506050"/>
            <a:ext cx="16917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181B"/>
                </a:solidFill>
                <a:latin typeface="Arial"/>
                <a:ea typeface="Arial"/>
                <a:cs typeface="Arial"/>
                <a:sym typeface="Arial"/>
              </a:rPr>
              <a:t>канал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@inview_club</a:t>
            </a:r>
            <a:endParaRPr b="1" i="0" sz="1100" u="none" cap="none" strike="noStrike">
              <a:solidFill>
                <a:srgbClr val="18181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2026-10-11T15:19:24Z</dcterms:created>
  <dc:creator>Walnut Exporter</dc:creator>
</cp:coreProperties>
</file>