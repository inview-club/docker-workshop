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 marR="0" algn="l">
      <a:lnSpc>
        <a:spcPct val="100000"/>
      </a:lnSpc>
      <a:spcBef>
        <a:spcPts val="0"/>
      </a:spcBef>
      <a:spcAft>
        <a:spcPts val="0"/>
      </a:spcAft>
      <a:buNone/>
    </a:defPPr>
    <a:lvl1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2DBE6DA-2304-3994-3999-26E95AC03B5D}" name="Ilia Krivoshein" initials="IK" userId="Ilia Krivoshein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857284F-77EC-48F0-8E88-52A54EA2F994}">
  <a:tblStyle styleId="{B857284F-77EC-48F0-8E88-52A54EA2F99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[0:00–1:00] ХУК. Слайд на экране, ты молчишь две секунды, потом: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«Пятница, семь вечера. Кто-то нажал одну кнопку — и приложение, которым пользуются миллионы людей, легло. Через четыре минуты всё снова работает, и большинство пользователей даже не заметили.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Вот про эти четыре минуты и про людей, которые их обеспечивают, — следующие пятнадцать минут.»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Пауза. Потом: «Меня зовут Таня, я DevOps-инженер и преподаю на ПИН. И я из клуба inview.»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НЕ представляйся до хука — сначала зацепка, потом имя.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[1:00–2:00] КТО МЫ.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«Клуб называется inview. Его собрали студенты и сотрудники ИТМО — просто потому, что заметили: в городе полно сообществ про фронтенд, про алгоритмы, про машинное обучение, а про инфраструктуру — почти ничего. Решили сделать сами.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Нас поддерживает факультет ПИН, но денег за это никто не получает — клуб держится на энтузиазме.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Важная вещь, которую я хочу, чтобы вы услышали сразу: у нас в одной аудитории сидят первокурсники и действующие senior-инженеры. Это не «кружок для новичков» и не «закрытый клуб для профи». Фото справа — с нашей июньской встречи, там ровно такая смесь.»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Цифры внизу — не проговаривай все три, ткни в одну: «пятьсот человек в сообществе».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[9:45–10:45] ФОРМАТЫ. Не читай все пять — назови три и махни рукой на остальные.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«Коротко, что мы делаем.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Митапы — зовём действующих инженеров рассказывать про то, что у них реально происходит на работе. Воркшопы — это руками: приносишь ноутбук и уходишь с работающей штукой, а не с конспектом. Открытые кейсы на GitHub — их можно проходить самому и бесплатно, даже если вы ни разу к нам не пришли.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И то, что для многих оказывается главным, — выезды. На фото наш апрельский ретрит: днём доклады прямо в лесу, ночью разговоры про упавший прод у костра. Половина полезных знакомств случается именно там, а не в аудитории.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И чат, где можно задать глупый вопрос и не получить по шапке. Это, если честно, самое ценное.»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[2:00–3:30] ЧТО ТАКОЕ DEVOPS.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Для школьников — метафора, для остальных — стек внизу слайда (его НЕ проговариваем, он работает сам).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«Смотрите. Разработчик написал код у себя на ноутбуке. У него работает. Всё?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Нет. Между «работает у меня» и «работает у миллиона людей и не падает» лежит вот этот путь: код надо собрать, прогнать тесты, выкатить сначала на тестовый стенд, потом на боевой — и при этом не уронить то, что уже работает.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Плюс нижняя стрелка: надо заранее знать, что сломалось. Хороший показатель зрелости — когда о проблеме вы узнаёте от своих графиков, а не из твиттера пользователей.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Вот весь этот путь — и есть DevOps. Мы строим дорогу, по которой код едет от разработчика к пользователю.»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Если в зале есть шарящие — покажи рукой на строчку с инструментами: «а вот этими словами это называется, если вам они уже что-то говорят».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Базовая часть: концепции Docker, Dockerfile и кэш сборки, Compose с приложением и Redis, Harbor и сканирование образов. Advanced: namespaces и cgroups v2, multistage и Hadolint, локальная подпись архива образа через OpenSSL и volumes.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Начало базового трека. Разберём устройство контейнеров и образов, напишем Dockerfile и Compose, затем поднимем Harbor, отправим образ в registry и проверим уязвимости.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https://docs.docker.com/get-started/docker-concepts/the-basics/what-is-a-container/</a:t>
            </a:r>
          </a:p>
          <a:p>
            <a:r>
              <a:t>Материалы: Docker.pptx, Лекция 2, Docker.pdf, Лекция 2.1, Docker.pdf (Downloads).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Материалы: Docker.pptx, Лекция 2, Docker.pdf, Лекция 2.1, Docker.pdf (Downloads).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https://docs.docker.com/get-started/docker-concepts/the-basics/what-is-an-image/</a:t>
            </a:r>
          </a:p>
          <a:p>
            <a:r>
              <a:t>Материалы: Docker.pptx, Лекция 2, Docker.pdf, Лекция 2.1, Docker.pdf (Downloads).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Материалы: Docker.pptx, Лекция 2, Docker.pdf, Лекция 2.1, Docker.pdf (Downloads).</a:t>
            </a:r>
          </a:p>
          <a:p>
            <a:r>
              <a:t>Схема из Docker.pptx, слайд 2. Современную сборку выполняет BuildKit.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https://docs.docker.com/build/building/best-practices/</a:t>
            </a:r>
          </a:p>
          <a:p>
            <a:r>
              <a:t>Материалы: Docker.pptx, Лекция 2, Docker.pdf, Лекция 2.1, Docker.pdf (Downloads).</a:t>
            </a:r>
          </a:p>
          <a:p>
            <a:r>
              <a:t>Схема OverlayFS из Docker.pptx, слайд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https://docs.docker.com/reference/dockerfile/</a:t>
            </a:r>
          </a:p>
          <a:p>
            <a:r>
              <a:t>https://docs.docker.com/build/building/best-practices/</a:t>
            </a:r>
          </a:p>
          <a:p>
            <a:r>
              <a:t>Код соответствует app/Dockerfile в материалах. Без REDIS_HOST счётчик хранится в памяти.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Команды и критерии приведены в README.md материалов. При переходе к Compose остановить counter-demo, чтобы освободить порт 8080.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https://docs.docker.com/compose/how-tos/startup-order/</a:t>
            </a:r>
          </a:p>
          <a:p>
            <a:r>
              <a:t>Полный файл app/compose.yaml включает также cap_drop и no-new-privileges. Это фрагмент для объяснения, копировать его со слайда не требуется.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https://docs.docker.com/engine/storage/volumes/</a:t>
            </a:r>
          </a:p>
          <a:p>
            <a:r>
              <a:t>https://docs.docker.com/compose/intro/compose-application-model/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Берём файл из репозитория занятия. Копировать или собирать YAML из слайдов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https://goharbor.io/docs/2.14.0/</a:t>
            </a:r>
          </a:p>
          <a:p>
            <a:r>
              <a:t>https://goharbor.io/docs/2.14.0/administration/vulnerability-scanning/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Официальные образы v2.14.0. prepare запускается через prepare.compose.yaml, затем главный compose.yaml поднимает стек. Набор файлов в материалах.</a:t>
            </a:r>
          </a:p>
          <a:p>
            <a:r>
              <a:t>https://github.com/goharbor/harbor/blob/v2.14.0/make/prepare</a:t>
            </a:r>
          </a:p>
          <a:p>
            <a:r>
              <a:t>https://github.com/goharbor/harbor/blob/v2.14.0/make/photon/prepare/templates/docker_compose/docker-compose.yml.jinja</a:t>
            </a:r>
          </a:p>
          <a:p>
            <a:r>
              <a:t>HTTP только для лаборатории на одном компьютере.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https://goharbor.io/docs/2.14.0/working-with-projects/working-with-images/pulling-pushing-images/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Первый pull образов и базы Trivy может увеличить время задания. Учебные пароли находятся в .env.example и README. Живой запуск в среде подготовки не подтверждён.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https://www.man7.org/linux/man-pages/man7/namespaces.7.html</a:t>
            </a:r>
          </a:p>
          <a:p>
            <a:r>
              <a:t>Иллюстрация: Docker.pptx, раздел namespaces. Автор Julia Evans (@b0rk), https://jvns.ca/blog/2020/04/27/new-zine-how-containers-work/</a:t>
            </a:r>
          </a:p>
          <a:p>
            <a:r>
              <a:t>Комикс показывает исторический набор из семи namespaces. В Linux также есть time namespace.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https://docs.kernel.org/admin-guide/cgroup-v2.html</a:t>
            </a:r>
          </a:p>
          <a:p>
            <a:r>
              <a:t>Иллюстрация: Docker.pptx, раздел cgroups. Автор Julia Evans (@b0rk), https://jvns.ca/blog/2020/04/27/new-zine-how-containers-work/</a:t>
            </a:r>
          </a:p>
          <a:p>
            <a:r>
              <a:t>Рассматриваем cgroups v2. memory.max — жёсткая граница, возможен cgroup OOM. memory.high вызывает reclaim/throttling. CPU quota вызывает throttling.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https://docs.kernel.org/admin-guide/cgroup-v2.html</a:t>
            </a:r>
          </a:p>
          <a:p>
            <a:r>
              <a:t>https://www.man7.org/linux/man-pages/man7/namespaces.7.html</a:t>
            </a:r>
          </a:p>
          <a:p>
            <a:r>
              <a:t>https://docs.docker.com/engine/containers/resource_constraints/</a:t>
            </a:r>
          </a:p>
          <a:p>
            <a:r>
              <a:t>Полный пример: advanced/cgroups/demo.sh. Файлы читаются внутри контейнера с приватным cgroup namespace. Конкретные inode namespaces зависят от запуска.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https://docs.docker.com/build/building/multi-stage/</a:t>
            </a:r>
          </a:p>
          <a:p>
            <a:r>
              <a:t>Код: advanced/multistage/Dockerfile. Go main.go входит в отдельный архив. Статический HTTP-сервис без TLS и внешних зависимостей. Scratch не содержит shell и CA bundle; это не универсальная замена runtime-образа. Версия Go зафиксирована для учебного примера.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https://github.com/hadolint/hadolint</a:t>
            </a:r>
          </a:p>
          <a:p>
            <a:r>
              <a:t>https://github.com/hadolint/hadolint/pkgs/container/hadolint/</a:t>
            </a:r>
          </a:p>
          <a:p>
            <a:r>
              <a:t>Файлы: advanced/hadolint/Dockerfile.bad, advanced/hadolint/Dockerfile.good, advanced/hadolint/lint.sh. Команды на слайде выполняются из корня репозитория и переходят в advanced/hadolint/. lint.sh передаёт выбранный Dockerfile через stdin в ghcr.io/hadolint/hadolint:v2.15.1. Хороший пример использует фиксированный тег Alpine и exec-форму CMD; curl удалён как ненужная зависимость. Если пакет нужен приложению, следует зафиксировать его версию и применять apk --no-cache. Плохой пример намеренно содержит DL3007, DL3018, DL3019 и DL3025. Линтер не выполняет сканирование образа на CVE.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Локальная подпись байтов архива docker save. Проверка требует доверенного открытого ключа. Повторный экспорт образа может изменить байты архива и требует отдельной подписи. Подпись не проверяет CVE. OpenSSL запросит пароль при создании и использовании зашифрованного приватного RSA-ключа. Полный пример и негативная проверка: advanced/openssl/README.md, https://github.com/inview-club/docker-workshop/blob/main/advanced/openssl/README.md</a:t>
            </a:r>
          </a:p>
          <a:p>
            <a:r>
              <a:t>https://docs.openssl.org/3.0/man1/openssl-genpkey/</a:t>
            </a:r>
          </a:p>
          <a:p>
            <a:r>
              <a:t>https://docs.openssl.org/3.0/man1/openssl-pkey/</a:t>
            </a:r>
          </a:p>
          <a:p>
            <a:r>
              <a:t>https://docs.openssl.org/3.0/man1/openssl-dgst/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https://docs.docker.com/engine/storage/volumes/</a:t>
            </a:r>
          </a:p>
          <a:p>
            <a:r>
              <a:t>Полный пример advanced/volumes/demo.sh использует уникальное имя volume, build seed-образа, копирование файлов при первом монтировании и чтение сохранённых данных. На слайде упрощённый пример. Название volume следует выбрать свободное.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Заготовка по запросу. Когда будет готова форма, заменить этот текст её QR-кодом.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[13:30–15:00] ФИНАЛ. QR должен висеть на экране всё время, пока ты отвечаешь на вопросы.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«Всё. Как попасть.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Левый QR — чат клуба, там пятьсот с лишним человек. Правый — канал с анонсами. Достаньте телефоны прямо сейчас, я подожду.»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Реально подожди пятнадцать секунд. Это единственный момент, когда зал конвертируется.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«Ближайшее: с тридцать первого августа по четвёртое сентября мы стоим на ярмарке клубов — приходите, там можно поиграть в наши штуки и познакомиться живьём. В сентябре — первая встреча.»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Закрытие, возврат к хуку из самого начала: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«И помните те четыре минуты, с которых я начала? Их кто-то отрепетировал заранее. Приходите учиться репетировать.»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Дальше — вопросы, слайд не переключаешь.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>
            <a:extLst>
              <a:ext uri="{FF2B5EF4-FFF2-40B4-BE49-F238E27FC236}">
                <a16:creationId xmlns:a16="http://schemas.microsoft.com/office/drawing/2014/main" id="{2A3D79FA-1AFF-43C8-B793-6806C9904FD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>
            <a:extLst>
              <a:ext uri="{FF2B5EF4-FFF2-40B4-BE49-F238E27FC236}">
                <a16:creationId xmlns:a16="http://schemas.microsoft.com/office/drawing/2014/main" id="{8E8D4268-D808-4002-A7F5-C36390328C9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6">
            <a:extLst>
              <a:ext uri="{FF2B5EF4-FFF2-40B4-BE49-F238E27FC236}">
                <a16:creationId xmlns:a16="http://schemas.microsoft.com/office/drawing/2014/main" id="{DAA7EAC9-4BD3-43D2-B7F4-1EDE991998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>
            <a:extLst>
              <a:ext uri="{FF2B5EF4-FFF2-40B4-BE49-F238E27FC236}">
                <a16:creationId xmlns:a16="http://schemas.microsoft.com/office/drawing/2014/main" id="{1BE6B518-8D2A-4CB3-BD92-3470B9E3BB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>
            <a:extLst>
              <a:ext uri="{FF2B5EF4-FFF2-40B4-BE49-F238E27FC236}">
                <a16:creationId xmlns:a16="http://schemas.microsoft.com/office/drawing/2014/main" id="{54CA999D-9CC3-4464-A055-A8CFD6208E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7">
            <a:extLst>
              <a:ext uri="{FF2B5EF4-FFF2-40B4-BE49-F238E27FC236}">
                <a16:creationId xmlns:a16="http://schemas.microsoft.com/office/drawing/2014/main" id="{38DA1014-ED39-40B5-BCA8-27A01FA9D70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>
            <a:extLst>
              <a:ext uri="{FF2B5EF4-FFF2-40B4-BE49-F238E27FC236}">
                <a16:creationId xmlns:a16="http://schemas.microsoft.com/office/drawing/2014/main" id="{B7D94A9F-88CD-4874-ADE5-2929ADB92EF6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>
            <a:extLst>
              <a:ext uri="{FF2B5EF4-FFF2-40B4-BE49-F238E27FC236}">
                <a16:creationId xmlns:a16="http://schemas.microsoft.com/office/drawing/2014/main" id="{1534924A-256E-4520-9B2E-AEC6AB7EAC1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>
            <a:extLst>
              <a:ext uri="{FF2B5EF4-FFF2-40B4-BE49-F238E27FC236}">
                <a16:creationId xmlns:a16="http://schemas.microsoft.com/office/drawing/2014/main" id="{352BBC4F-B3CD-4B85-B938-E44FFEA5B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>
            <a:extLst>
              <a:ext uri="{FF2B5EF4-FFF2-40B4-BE49-F238E27FC236}">
                <a16:creationId xmlns:a16="http://schemas.microsoft.com/office/drawing/2014/main" id="{2D2961C1-4C03-4CFC-B86A-0532EF6CE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8">
            <a:extLst>
              <a:ext uri="{FF2B5EF4-FFF2-40B4-BE49-F238E27FC236}">
                <a16:creationId xmlns:a16="http://schemas.microsoft.com/office/drawing/2014/main" id="{EB815628-0C5E-4A55-A62F-DDEE6233C0D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>
            <a:extLst>
              <a:ext uri="{FF2B5EF4-FFF2-40B4-BE49-F238E27FC236}">
                <a16:creationId xmlns:a16="http://schemas.microsoft.com/office/drawing/2014/main" id="{A681FD7B-DF13-4BB1-B1D3-D3B62CA7E16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>
            <a:extLst>
              <a:ext uri="{FF2B5EF4-FFF2-40B4-BE49-F238E27FC236}">
                <a16:creationId xmlns:a16="http://schemas.microsoft.com/office/drawing/2014/main" id="{4B9F29C1-CB59-4B55-9D53-88061ECB61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>
            <a:extLst>
              <a:ext uri="{FF2B5EF4-FFF2-40B4-BE49-F238E27FC236}">
                <a16:creationId xmlns:a16="http://schemas.microsoft.com/office/drawing/2014/main" id="{7796BEBA-91F2-41BD-97D0-060E5BBB4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>
            <a:extLst>
              <a:ext uri="{FF2B5EF4-FFF2-40B4-BE49-F238E27FC236}">
                <a16:creationId xmlns:a16="http://schemas.microsoft.com/office/drawing/2014/main" id="{58510257-05F6-4B65-A581-D00F4A74B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>
            <a:extLst>
              <a:ext uri="{FF2B5EF4-FFF2-40B4-BE49-F238E27FC236}">
                <a16:creationId xmlns:a16="http://schemas.microsoft.com/office/drawing/2014/main" id="{902D280D-AC0B-4037-AB3B-C226B04D543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>
            <a:extLst>
              <a:ext uri="{FF2B5EF4-FFF2-40B4-BE49-F238E27FC236}">
                <a16:creationId xmlns:a16="http://schemas.microsoft.com/office/drawing/2014/main" id="{DF58E848-AA1C-4DFA-B182-AB4B6CA4826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>
            <a:extLst>
              <a:ext uri="{FF2B5EF4-FFF2-40B4-BE49-F238E27FC236}">
                <a16:creationId xmlns:a16="http://schemas.microsoft.com/office/drawing/2014/main" id="{2A4F878E-F495-4271-8A99-F295116CB1A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>
            <a:extLst>
              <a:ext uri="{FF2B5EF4-FFF2-40B4-BE49-F238E27FC236}">
                <a16:creationId xmlns:a16="http://schemas.microsoft.com/office/drawing/2014/main" id="{87E3CEAD-4200-4678-A2E0-41B5D219F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>
            <a:extLst>
              <a:ext uri="{FF2B5EF4-FFF2-40B4-BE49-F238E27FC236}">
                <a16:creationId xmlns:a16="http://schemas.microsoft.com/office/drawing/2014/main" id="{8D7FF925-8671-4D9D-92F2-88CEEFA3D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0">
            <a:extLst>
              <a:ext uri="{FF2B5EF4-FFF2-40B4-BE49-F238E27FC236}">
                <a16:creationId xmlns:a16="http://schemas.microsoft.com/office/drawing/2014/main" id="{EC62532B-E09D-43B9-9DF6-14C9518B0DF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0">
            <a:extLst>
              <a:ext uri="{FF2B5EF4-FFF2-40B4-BE49-F238E27FC236}">
                <a16:creationId xmlns:a16="http://schemas.microsoft.com/office/drawing/2014/main" id="{B42C7398-22A1-41CA-82ED-C8C8A25079B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>
            <a:extLst>
              <a:ext uri="{FF2B5EF4-FFF2-40B4-BE49-F238E27FC236}">
                <a16:creationId xmlns:a16="http://schemas.microsoft.com/office/drawing/2014/main" id="{41A0DACB-407B-400E-8305-020D8B27995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>
            <a:extLst>
              <a:ext uri="{FF2B5EF4-FFF2-40B4-BE49-F238E27FC236}">
                <a16:creationId xmlns:a16="http://schemas.microsoft.com/office/drawing/2014/main" id="{FC33344C-2DA6-4FCF-A601-5DAFA28239F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>
            <a:extLst>
              <a:ext uri="{FF2B5EF4-FFF2-40B4-BE49-F238E27FC236}">
                <a16:creationId xmlns:a16="http://schemas.microsoft.com/office/drawing/2014/main" id="{9432EA01-7518-4DD1-A57D-89BA971E2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>
            <a:extLst>
              <a:ext uri="{FF2B5EF4-FFF2-40B4-BE49-F238E27FC236}">
                <a16:creationId xmlns:a16="http://schemas.microsoft.com/office/drawing/2014/main" id="{02DBF140-7BEA-4BD6-8299-CFDDEF1EE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>
            <a:extLst>
              <a:ext uri="{FF2B5EF4-FFF2-40B4-BE49-F238E27FC236}">
                <a16:creationId xmlns:a16="http://schemas.microsoft.com/office/drawing/2014/main" id="{8E683A6A-4C15-4C29-992B-E49031B8511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1">
            <a:extLst>
              <a:ext uri="{FF2B5EF4-FFF2-40B4-BE49-F238E27FC236}">
                <a16:creationId xmlns:a16="http://schemas.microsoft.com/office/drawing/2014/main" id="{C766A217-4470-43DB-B594-156FB4362AF8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>
            <a:extLst>
              <a:ext uri="{FF2B5EF4-FFF2-40B4-BE49-F238E27FC236}">
                <a16:creationId xmlns:a16="http://schemas.microsoft.com/office/drawing/2014/main" id="{377F3BD8-10FD-4C1A-B0D7-BF16039EB5E3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1">
            <a:extLst>
              <a:ext uri="{FF2B5EF4-FFF2-40B4-BE49-F238E27FC236}">
                <a16:creationId xmlns:a16="http://schemas.microsoft.com/office/drawing/2014/main" id="{E53993BF-8504-4AB0-A6D0-6B50E5C7C56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>
            <a:extLst>
              <a:ext uri="{FF2B5EF4-FFF2-40B4-BE49-F238E27FC236}">
                <a16:creationId xmlns:a16="http://schemas.microsoft.com/office/drawing/2014/main" id="{6CD037C4-D481-4934-86D6-71658D6F8B6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>
            <a:extLst>
              <a:ext uri="{FF2B5EF4-FFF2-40B4-BE49-F238E27FC236}">
                <a16:creationId xmlns:a16="http://schemas.microsoft.com/office/drawing/2014/main" id="{5FE74599-D896-4CAC-AC0F-E523E0755CA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>
            <a:extLst>
              <a:ext uri="{FF2B5EF4-FFF2-40B4-BE49-F238E27FC236}">
                <a16:creationId xmlns:a16="http://schemas.microsoft.com/office/drawing/2014/main" id="{3FC97650-59A9-49E4-84BC-21132C323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>
            <a:extLst>
              <a:ext uri="{FF2B5EF4-FFF2-40B4-BE49-F238E27FC236}">
                <a16:creationId xmlns:a16="http://schemas.microsoft.com/office/drawing/2014/main" id="{8F4AFA92-180E-4013-8A3C-08E1D81AAAC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>
            <a:extLst>
              <a:ext uri="{FF2B5EF4-FFF2-40B4-BE49-F238E27FC236}">
                <a16:creationId xmlns:a16="http://schemas.microsoft.com/office/drawing/2014/main" id="{1A110628-666A-4E76-945E-CDFA139CE60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>
            <a:extLst>
              <a:ext uri="{FF2B5EF4-FFF2-40B4-BE49-F238E27FC236}">
                <a16:creationId xmlns:a16="http://schemas.microsoft.com/office/drawing/2014/main" id="{97DD1E50-EF22-47D1-A316-E094BF767E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>
            <a:extLst>
              <a:ext uri="{FF2B5EF4-FFF2-40B4-BE49-F238E27FC236}">
                <a16:creationId xmlns:a16="http://schemas.microsoft.com/office/drawing/2014/main" id="{11476425-FC79-440A-B0BD-6AE4AF3EC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>
            <a:extLst>
              <a:ext uri="{FF2B5EF4-FFF2-40B4-BE49-F238E27FC236}">
                <a16:creationId xmlns:a16="http://schemas.microsoft.com/office/drawing/2014/main" id="{D849ED61-3C1E-4D04-A072-580A00758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>
            <a:extLst>
              <a:ext uri="{FF2B5EF4-FFF2-40B4-BE49-F238E27FC236}">
                <a16:creationId xmlns:a16="http://schemas.microsoft.com/office/drawing/2014/main" id="{66770985-FCF7-452F-8CCB-C9371273E23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3">
            <a:extLst>
              <a:ext uri="{FF2B5EF4-FFF2-40B4-BE49-F238E27FC236}">
                <a16:creationId xmlns:a16="http://schemas.microsoft.com/office/drawing/2014/main" id="{A371B5F5-C925-4622-8533-873B2CC5E64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>
            <a:extLst>
              <a:ext uri="{FF2B5EF4-FFF2-40B4-BE49-F238E27FC236}">
                <a16:creationId xmlns:a16="http://schemas.microsoft.com/office/drawing/2014/main" id="{E2E7BDB1-AB37-46AC-A733-30F0A97A79B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>
            <a:extLst>
              <a:ext uri="{FF2B5EF4-FFF2-40B4-BE49-F238E27FC236}">
                <a16:creationId xmlns:a16="http://schemas.microsoft.com/office/drawing/2014/main" id="{D8878FFA-8FC3-4CFE-93F3-E22031F3A98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>
            <a:extLst>
              <a:ext uri="{FF2B5EF4-FFF2-40B4-BE49-F238E27FC236}">
                <a16:creationId xmlns:a16="http://schemas.microsoft.com/office/drawing/2014/main" id="{192ECD9D-0E3E-4801-A1C8-4F5E80F48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>
            <a:extLst>
              <a:ext uri="{FF2B5EF4-FFF2-40B4-BE49-F238E27FC236}">
                <a16:creationId xmlns:a16="http://schemas.microsoft.com/office/drawing/2014/main" id="{AD6BEBE5-2320-4F5B-8C2B-DCBF9A240F24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>
            <a:extLst>
              <a:ext uri="{FF2B5EF4-FFF2-40B4-BE49-F238E27FC236}">
                <a16:creationId xmlns:a16="http://schemas.microsoft.com/office/drawing/2014/main" id="{4CFD3FED-22A2-40DC-B3F5-FE2B3B6D0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4">
            <a:extLst>
              <a:ext uri="{FF2B5EF4-FFF2-40B4-BE49-F238E27FC236}">
                <a16:creationId xmlns:a16="http://schemas.microsoft.com/office/drawing/2014/main" id="{4CA97E2F-2454-4DD5-A6F5-79A56A4B725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>
            <a:extLst>
              <a:ext uri="{FF2B5EF4-FFF2-40B4-BE49-F238E27FC236}">
                <a16:creationId xmlns:a16="http://schemas.microsoft.com/office/drawing/2014/main" id="{EE7E7DE6-AB4E-46EB-9797-F69FDC61CBA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>
            <a:extLst>
              <a:ext uri="{FF2B5EF4-FFF2-40B4-BE49-F238E27FC236}">
                <a16:creationId xmlns:a16="http://schemas.microsoft.com/office/drawing/2014/main" id="{C8EDA375-6BEC-4AB8-9BF5-EDB8304277F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>
            <a:extLst>
              <a:ext uri="{FF2B5EF4-FFF2-40B4-BE49-F238E27FC236}">
                <a16:creationId xmlns:a16="http://schemas.microsoft.com/office/drawing/2014/main" id="{79494B2C-7D0B-4B14-B488-E74E0A1B2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>
            <a:extLst>
              <a:ext uri="{FF2B5EF4-FFF2-40B4-BE49-F238E27FC236}">
                <a16:creationId xmlns:a16="http://schemas.microsoft.com/office/drawing/2014/main" id="{E68F1056-DFFE-418C-ABAE-AED97A5F5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>
            <a:extLst>
              <a:ext uri="{FF2B5EF4-FFF2-40B4-BE49-F238E27FC236}">
                <a16:creationId xmlns:a16="http://schemas.microsoft.com/office/drawing/2014/main" id="{B1328FFB-3480-415E-85EC-5CEB0784204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>
            <a:extLst>
              <a:ext uri="{FF2B5EF4-FFF2-40B4-BE49-F238E27FC236}">
                <a16:creationId xmlns:a16="http://schemas.microsoft.com/office/drawing/2014/main" id="{10E68717-0372-4C1B-9BE3-0ADCFD5C25F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>
            <a:extLst>
              <a:ext uri="{FF2B5EF4-FFF2-40B4-BE49-F238E27FC236}">
                <a16:creationId xmlns:a16="http://schemas.microsoft.com/office/drawing/2014/main" id="{2549F7F0-1B16-49C8-A15C-5B471A031E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>
            <a:extLst>
              <a:ext uri="{FF2B5EF4-FFF2-40B4-BE49-F238E27FC236}">
                <a16:creationId xmlns:a16="http://schemas.microsoft.com/office/drawing/2014/main" id="{6F597848-55D1-4CF3-B45D-C3348EF30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>
            <a:extLst>
              <a:ext uri="{FF2B5EF4-FFF2-40B4-BE49-F238E27FC236}">
                <a16:creationId xmlns:a16="http://schemas.microsoft.com/office/drawing/2014/main" id="{C4009CC0-F7CF-47FB-BE77-918DEDFD5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>
            <a:extLst>
              <a:ext uri="{FF2B5EF4-FFF2-40B4-BE49-F238E27FC236}">
                <a16:creationId xmlns:a16="http://schemas.microsoft.com/office/drawing/2014/main" id="{79F525BE-7EBD-4F0E-8FC6-65B1741B267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>
            <a:extLst>
              <a:ext uri="{FF2B5EF4-FFF2-40B4-BE49-F238E27FC236}">
                <a16:creationId xmlns:a16="http://schemas.microsoft.com/office/drawing/2014/main" id="{AB2ADD46-A5A2-4F83-9E0A-A3B32FD968F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>
            <a:extLst>
              <a:ext uri="{FF2B5EF4-FFF2-40B4-BE49-F238E27FC236}">
                <a16:creationId xmlns:a16="http://schemas.microsoft.com/office/drawing/2014/main" id="{21555528-6115-40C1-94F9-A049AFC6B49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>
            <a:extLst>
              <a:ext uri="{FF2B5EF4-FFF2-40B4-BE49-F238E27FC236}">
                <a16:creationId xmlns:a16="http://schemas.microsoft.com/office/drawing/2014/main" id="{B578EEFA-F177-4FCC-BEE7-07679422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15">
            <a:extLst>
              <a:ext uri="{FF2B5EF4-FFF2-40B4-BE49-F238E27FC236}">
                <a16:creationId xmlns:a16="http://schemas.microsoft.com/office/drawing/2014/main" id="{92E0FAAF-4EE2-42D3-BE1D-2D535AFFC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marR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8" name="Google Shape;8;p15">
            <a:extLst>
              <a:ext uri="{FF2B5EF4-FFF2-40B4-BE49-F238E27FC236}">
                <a16:creationId xmlns:a16="http://schemas.microsoft.com/office/drawing/2014/main" id="{FA8D2515-6F43-4703-8183-07371780E1B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9" name="Google Shape;9;p15">
            <a:extLst>
              <a:ext uri="{FF2B5EF4-FFF2-40B4-BE49-F238E27FC236}">
                <a16:creationId xmlns:a16="http://schemas.microsoft.com/office/drawing/2014/main" id="{3D013D4E-828A-4EBA-9B59-CB24E00B10E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0" name="Google Shape;10;p15">
            <a:extLst>
              <a:ext uri="{FF2B5EF4-FFF2-40B4-BE49-F238E27FC236}">
                <a16:creationId xmlns:a16="http://schemas.microsoft.com/office/drawing/2014/main" id="{17A4B336-C679-47BE-9C01-05D9D624CA3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>
            <a:extLst>
              <a:ext uri="{FF2B5EF4-FFF2-40B4-BE49-F238E27FC236}">
                <a16:creationId xmlns:a16="http://schemas.microsoft.com/office/drawing/2014/main" id="{7ECAA93B-F73F-43F8-AA4A-EA3B2692A610}"/>
              </a:ext>
            </a:extLst>
          </p:cNvPr>
          <p:cNvSpPr>
            <a:spLocks noGrp="1"/>
          </p:cNvSpPr>
          <p:nvPr/>
        </p:nvSpPr>
        <p:spPr>
          <a:xfrm>
            <a:off x="822960" y="822960"/>
            <a:ext cx="9144000" cy="3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inview@club:~$ </a:t>
            </a:r>
            <a:r>
              <a:rPr sz="1600" b="0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./join --</a:t>
            </a:r>
            <a:r>
              <a:rPr sz="1600">
                <a:solidFill>
                  <a:srgbClr val="18181B"/>
                </a:solidFill>
              </a:rPr>
              <a:t>practice-workshop</a:t>
            </a:r>
            <a:r>
              <a:rPr sz="16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 █</a:t>
            </a:r>
          </a:p>
        </p:txBody>
      </p:sp>
      <p:sp>
        <p:nvSpPr>
          <p:cNvPr id="86" name="Google Shape;86;p1">
            <a:extLst>
              <a:ext uri="{FF2B5EF4-FFF2-40B4-BE49-F238E27FC236}">
                <a16:creationId xmlns:a16="http://schemas.microsoft.com/office/drawing/2014/main" id="{BD06B535-D888-477E-88BA-17547112B405}"/>
              </a:ext>
            </a:extLst>
          </p:cNvPr>
          <p:cNvSpPr>
            <a:spLocks noGrp="1"/>
          </p:cNvSpPr>
          <p:nvPr/>
        </p:nvSpPr>
        <p:spPr>
          <a:xfrm>
            <a:off x="762000" y="1466850"/>
            <a:ext cx="5667375" cy="185737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defPPr>
              <a:defRPr sz="9900" b="1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9900" b="1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9900" b="1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</a:t>
            </a:r>
            <a:endParaRPr sz="12800" b="1" i="0">
              <a:solidFill>
                <a:srgbClr val="1818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1">
            <a:extLst>
              <a:ext uri="{FF2B5EF4-FFF2-40B4-BE49-F238E27FC236}">
                <a16:creationId xmlns:a16="http://schemas.microsoft.com/office/drawing/2014/main" id="{B5A60D8F-5966-40B1-93C7-F0AE36C10ACC}"/>
              </a:ext>
            </a:extLst>
          </p:cNvPr>
          <p:cNvSpPr>
            <a:spLocks noGrp="1"/>
          </p:cNvSpPr>
          <p:nvPr/>
        </p:nvSpPr>
        <p:spPr>
          <a:xfrm>
            <a:off x="6620256" y="1572768"/>
            <a:ext cx="475500" cy="1079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27466C2D-934E-48AD-BD7F-2259F29F4E92}"/>
              </a:ext>
            </a:extLst>
          </p:cNvPr>
          <p:cNvSpPr>
            <a:spLocks noGrp="1"/>
          </p:cNvSpPr>
          <p:nvPr/>
        </p:nvSpPr>
        <p:spPr>
          <a:xfrm>
            <a:off x="819150" y="3257550"/>
            <a:ext cx="5572125" cy="125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>
            <a:defPPr>
              <a:defRPr sz="26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6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Образы, Compose и свой Harbor</a:t>
            </a:r>
            <a:endParaRPr sz="2600" b="1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77B7CACC-B7DF-4105-B24B-70B641C9A76D}"/>
              </a:ext>
            </a:extLst>
          </p:cNvPr>
          <p:cNvSpPr>
            <a:spLocks noGrp="1"/>
          </p:cNvSpPr>
          <p:nvPr/>
        </p:nvSpPr>
        <p:spPr>
          <a:xfrm>
            <a:off x="822960" y="5416202"/>
            <a:ext cx="9327000" cy="41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Клуб IT-инфраструктуры Университета ИТМО</a:t>
            </a: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DD9E48FF-7AEA-4701-A000-1466A35924ED}"/>
              </a:ext>
            </a:extLst>
          </p:cNvPr>
          <p:cNvSpPr>
            <a:spLocks noGrp="1"/>
          </p:cNvSpPr>
          <p:nvPr/>
        </p:nvSpPr>
        <p:spPr>
          <a:xfrm>
            <a:off x="822960" y="4617720"/>
            <a:ext cx="10515600" cy="111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>
            <a:extLst>
              <a:ext uri="{FF2B5EF4-FFF2-40B4-BE49-F238E27FC236}">
                <a16:creationId xmlns:a16="http://schemas.microsoft.com/office/drawing/2014/main" id="{57E02C57-3AE2-4C19-8551-D37FA3F28903}"/>
              </a:ext>
            </a:extLst>
          </p:cNvPr>
          <p:cNvSpPr>
            <a:spLocks noGrp="1"/>
          </p:cNvSpPr>
          <p:nvPr/>
        </p:nvSpPr>
        <p:spPr>
          <a:xfrm>
            <a:off x="822960" y="5943600"/>
            <a:ext cx="7315200" cy="41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t.me/inview_club · https://inview.team/</a:t>
            </a:r>
          </a:p>
        </p:txBody>
      </p:sp>
      <p:pic>
        <p:nvPicPr>
          <p:cNvPr id="92" name="Google Shape;92;p1">
            <a:extLst>
              <a:ext uri="{FF2B5EF4-FFF2-40B4-BE49-F238E27FC236}">
                <a16:creationId xmlns:a16="http://schemas.microsoft.com/office/drawing/2014/main" id="{A19293F4-F66D-4F57-AF67-5BF396767C6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15274" y="1137874"/>
            <a:ext cx="4805800" cy="48057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10946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939A0879-9B0B-4E09-AE12-7490C225F974}"/>
              </a:ext>
            </a:extLst>
          </p:cNvPr>
          <p:cNvSpPr>
            <a:spLocks noGrp="1"/>
          </p:cNvSpPr>
          <p:nvPr/>
        </p:nvSpPr>
        <p:spPr>
          <a:xfrm>
            <a:off x="822960" y="609600"/>
            <a:ext cx="10515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D97706"/>
                </a:solidFill>
                <a:latin typeface="Arial"/>
                <a:ea typeface="Arial"/>
                <a:cs typeface="Arial"/>
              </a:rPr>
              <a:t>$ </a:t>
            </a:r>
            <a:r>
              <a:rPr sz="1400" b="0">
                <a:solidFill>
                  <a:srgbClr val="71717A"/>
                </a:solidFill>
                <a:latin typeface="Arial"/>
                <a:ea typeface="Arial"/>
                <a:cs typeface="Arial"/>
              </a:rPr>
              <a:t>cat </a:t>
            </a:r>
            <a:r>
              <a:rPr sz="1400" b="1">
                <a:solidFill>
                  <a:srgbClr val="18181B"/>
                </a:solidFill>
                <a:latin typeface="Arial"/>
                <a:ea typeface="Arial"/>
                <a:cs typeface="Arial"/>
              </a:rPr>
              <a:t>about.md</a:t>
            </a:r>
            <a:endParaRPr sz="1400" b="0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153BE774-3E73-4B2E-A839-0BDEC614677C}"/>
              </a:ext>
            </a:extLst>
          </p:cNvPr>
          <p:cNvSpPr>
            <a:spLocks noGrp="1"/>
          </p:cNvSpPr>
          <p:nvPr/>
        </p:nvSpPr>
        <p:spPr>
          <a:xfrm>
            <a:off x="822960" y="1066800"/>
            <a:ext cx="10515600" cy="96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CC733E82-E871-4051-9DBC-61ABCD68753A}"/>
              </a:ext>
            </a:extLst>
          </p:cNvPr>
          <p:cNvSpPr>
            <a:spLocks noGrp="1"/>
          </p:cNvSpPr>
          <p:nvPr/>
        </p:nvSpPr>
        <p:spPr>
          <a:xfrm>
            <a:off x="822952" y="1428750"/>
            <a:ext cx="5979900" cy="3048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inview</a:t>
            </a: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— клуб, который сделали студенты и сотрудники ИТМО: в Петербурге почти нет живых инфраструктурных сообществ.</a:t>
            </a:r>
          </a:p>
          <a:p>
            <a:pPr marL="0" lvl="0" indent="0" algn="l">
              <a:spcBef>
                <a:spcPts val="165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Нас поддерживает факультет ПИН. Всё остальное — чистый </a:t>
            </a:r>
            <a:r>
              <a:rPr sz="2000" b="1">
                <a:solidFill>
                  <a:srgbClr val="18181B"/>
                </a:solidFill>
              </a:rPr>
              <a:t>энтузиазм</a:t>
            </a: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: зарплату здесь никто не получает.</a:t>
            </a:r>
          </a:p>
          <a:p>
            <a:pPr marL="0" lvl="0" indent="0" algn="l">
              <a:spcBef>
                <a:spcPts val="165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Приходят и </a:t>
            </a:r>
            <a:r>
              <a:rPr sz="2000" b="1">
                <a:solidFill>
                  <a:srgbClr val="18181B"/>
                </a:solidFill>
              </a:rPr>
              <a:t>первокурсники</a:t>
            </a: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, и </a:t>
            </a:r>
            <a:r>
              <a:rPr sz="2000" b="1">
                <a:solidFill>
                  <a:srgbClr val="18181B"/>
                </a:solidFill>
              </a:rPr>
              <a:t>senior-инженеры</a:t>
            </a: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, не только из ИТМО — каждому есть что спросить и что рассказать</a:t>
            </a:r>
            <a:r>
              <a:rPr sz="2000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01" name="Google Shape;101;p2">
            <a:extLst>
              <a:ext uri="{FF2B5EF4-FFF2-40B4-BE49-F238E27FC236}">
                <a16:creationId xmlns:a16="http://schemas.microsoft.com/office/drawing/2014/main" id="{A813D944-E05A-417D-B61E-368AFCC5061D}"/>
              </a:ext>
            </a:extLst>
          </p:cNvPr>
          <p:cNvSpPr>
            <a:spLocks noGrp="1"/>
          </p:cNvSpPr>
          <p:nvPr/>
        </p:nvSpPr>
        <p:spPr>
          <a:xfrm>
            <a:off x="822960" y="4762500"/>
            <a:ext cx="10515600" cy="96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">
            <a:extLst>
              <a:ext uri="{FF2B5EF4-FFF2-40B4-BE49-F238E27FC236}">
                <a16:creationId xmlns:a16="http://schemas.microsoft.com/office/drawing/2014/main" id="{6F59FFE7-887E-485B-884B-C774FBFC2FB4}"/>
              </a:ext>
            </a:extLst>
          </p:cNvPr>
          <p:cNvSpPr>
            <a:spLocks noGrp="1"/>
          </p:cNvSpPr>
          <p:nvPr/>
        </p:nvSpPr>
        <p:spPr>
          <a:xfrm>
            <a:off x="822960" y="5048250"/>
            <a:ext cx="85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D97706"/>
                </a:solidFill>
              </a:rPr>
              <a:t>8</a:t>
            </a:r>
            <a:r>
              <a:rPr sz="32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00+ </a:t>
            </a:r>
            <a:r>
              <a:rPr sz="1500" b="0">
                <a:solidFill>
                  <a:srgbClr val="71717A"/>
                </a:solidFill>
                <a:latin typeface="Arial"/>
                <a:ea typeface="Arial"/>
                <a:cs typeface="Arial"/>
              </a:rPr>
              <a:t>человек</a:t>
            </a:r>
            <a:r>
              <a:rPr sz="32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      77 ★ </a:t>
            </a:r>
            <a:r>
              <a:rPr sz="1500" b="0">
                <a:solidFill>
                  <a:srgbClr val="71717A"/>
                </a:solidFill>
                <a:latin typeface="Arial"/>
                <a:ea typeface="Arial"/>
                <a:cs typeface="Arial"/>
              </a:rPr>
              <a:t>на devops-cases</a:t>
            </a:r>
            <a:r>
              <a:rPr sz="32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      44 </a:t>
            </a:r>
            <a:r>
              <a:rPr sz="1500" b="0">
                <a:solidFill>
                  <a:srgbClr val="71717A"/>
                </a:solidFill>
                <a:latin typeface="Arial"/>
                <a:ea typeface="Arial"/>
                <a:cs typeface="Arial"/>
              </a:rPr>
              <a:t>форка</a:t>
            </a:r>
            <a:endParaRPr sz="3200" b="1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Google Shape;103;p2">
            <a:extLst>
              <a:ext uri="{FF2B5EF4-FFF2-40B4-BE49-F238E27FC236}">
                <a16:creationId xmlns:a16="http://schemas.microsoft.com/office/drawing/2014/main" id="{DD9CEEA3-AD70-4922-8035-A2739F5A291D}"/>
              </a:ext>
            </a:extLst>
          </p:cNvPr>
          <p:cNvSpPr>
            <a:spLocks noGrp="1"/>
          </p:cNvSpPr>
          <p:nvPr/>
        </p:nvSpPr>
        <p:spPr>
          <a:xfrm>
            <a:off x="822960" y="6096000"/>
            <a:ext cx="54864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D97706"/>
                </a:solidFill>
                <a:latin typeface="Arial"/>
                <a:ea typeface="Arial"/>
                <a:cs typeface="Arial"/>
              </a:rPr>
              <a:t>$ </a:t>
            </a:r>
            <a:r>
              <a:rPr sz="120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кто мы</a:t>
            </a:r>
            <a:endParaRPr sz="1200" b="0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04" name="Google Shape;104;p2">
            <a:extLst>
              <a:ext uri="{FF2B5EF4-FFF2-40B4-BE49-F238E27FC236}">
                <a16:creationId xmlns:a16="http://schemas.microsoft.com/office/drawing/2014/main" id="{77790189-2B2F-43BE-90B2-ADA8450E000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36749" y="1561024"/>
            <a:ext cx="4076293" cy="271686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1828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0">
            <a:extLst>
              <a:ext uri="{FF2B5EF4-FFF2-40B4-BE49-F238E27FC236}">
                <a16:creationId xmlns:a16="http://schemas.microsoft.com/office/drawing/2014/main" id="{568ABE8F-EFEC-4853-856A-D2FB5C6AE2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50450" y="1973275"/>
            <a:ext cx="5349627" cy="3688274"/>
          </a:xfrm>
          <a:prstGeom prst="rect">
            <a:avLst/>
          </a:prstGeom>
          <a:ln>
            <a:noFill/>
          </a:ln>
        </p:spPr>
      </p:pic>
      <p:sp>
        <p:nvSpPr>
          <p:cNvPr id="111" name="Google Shape;111;p10">
            <a:extLst>
              <a:ext uri="{FF2B5EF4-FFF2-40B4-BE49-F238E27FC236}">
                <a16:creationId xmlns:a16="http://schemas.microsoft.com/office/drawing/2014/main" id="{B6145407-5DC7-4344-B772-249B30DBE07D}"/>
              </a:ext>
            </a:extLst>
          </p:cNvPr>
          <p:cNvSpPr>
            <a:spLocks noGrp="1"/>
          </p:cNvSpPr>
          <p:nvPr/>
        </p:nvSpPr>
        <p:spPr>
          <a:xfrm>
            <a:off x="658368" y="566928"/>
            <a:ext cx="10881300" cy="31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$ </a:t>
            </a:r>
            <a:r>
              <a:rPr sz="13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cat </a:t>
            </a:r>
            <a:r>
              <a:rPr sz="13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what-we-do.md</a:t>
            </a:r>
            <a:endParaRPr sz="13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Google Shape;112;p10">
            <a:extLst>
              <a:ext uri="{FF2B5EF4-FFF2-40B4-BE49-F238E27FC236}">
                <a16:creationId xmlns:a16="http://schemas.microsoft.com/office/drawing/2014/main" id="{7B517021-9B08-4D54-85A0-2E0573C25658}"/>
              </a:ext>
            </a:extLst>
          </p:cNvPr>
          <p:cNvSpPr>
            <a:spLocks noGrp="1"/>
          </p:cNvSpPr>
          <p:nvPr/>
        </p:nvSpPr>
        <p:spPr>
          <a:xfrm>
            <a:off x="658368" y="1024128"/>
            <a:ext cx="5760600" cy="11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">
            <a:extLst>
              <a:ext uri="{FF2B5EF4-FFF2-40B4-BE49-F238E27FC236}">
                <a16:creationId xmlns:a16="http://schemas.microsoft.com/office/drawing/2014/main" id="{03419022-1AE2-48EA-90B7-89C110486C92}"/>
              </a:ext>
            </a:extLst>
          </p:cNvPr>
          <p:cNvSpPr>
            <a:spLocks noGrp="1"/>
          </p:cNvSpPr>
          <p:nvPr/>
        </p:nvSpPr>
        <p:spPr>
          <a:xfrm>
            <a:off x="658368" y="1298448"/>
            <a:ext cx="10881300" cy="41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8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Что здесь вообще происходит</a:t>
            </a:r>
          </a:p>
        </p:txBody>
      </p:sp>
      <p:sp>
        <p:nvSpPr>
          <p:cNvPr id="114" name="Google Shape;114;p10">
            <a:extLst>
              <a:ext uri="{FF2B5EF4-FFF2-40B4-BE49-F238E27FC236}">
                <a16:creationId xmlns:a16="http://schemas.microsoft.com/office/drawing/2014/main" id="{41014A7B-0FE2-49E3-A4FE-64501170A7E1}"/>
              </a:ext>
            </a:extLst>
          </p:cNvPr>
          <p:cNvSpPr>
            <a:spLocks noGrp="1"/>
          </p:cNvSpPr>
          <p:nvPr/>
        </p:nvSpPr>
        <p:spPr>
          <a:xfrm>
            <a:off x="658368" y="2103120"/>
            <a:ext cx="5898000" cy="4023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▸ </a:t>
            </a:r>
            <a:r>
              <a:rPr sz="18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Митапы и дискуссии</a:t>
            </a:r>
            <a:endParaRPr sz="17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с действующими инженерами из крупных компаний</a:t>
            </a:r>
            <a:endParaRPr sz="13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▸ </a:t>
            </a:r>
            <a:r>
              <a:rPr sz="18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Воркшопы</a:t>
            </a:r>
            <a:endParaRPr sz="17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приносишь ноутбук — уходишь с работающей штукой</a:t>
            </a:r>
            <a:endParaRPr sz="13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▸ </a:t>
            </a:r>
            <a:r>
              <a:rPr sz="18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Open-source кейсы</a:t>
            </a:r>
            <a:endParaRPr sz="17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на GitHub, проходятся самостоятельно и бесплатно</a:t>
            </a:r>
            <a:endParaRPr sz="13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▸ </a:t>
            </a:r>
            <a:r>
              <a:rPr sz="18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Выезд на турбазу</a:t>
            </a:r>
            <a:endParaRPr sz="17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доклады днём, разговоры про прод у костра ночью</a:t>
            </a:r>
            <a:endParaRPr sz="13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▸ </a:t>
            </a:r>
            <a:r>
              <a:rPr sz="18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Живой чат и канал</a:t>
            </a:r>
            <a:endParaRPr sz="17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  <a:p>
            <a:pPr marL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можно задать глупый вопрос и не получить по шапке</a:t>
            </a:r>
            <a:endParaRPr sz="13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Google Shape;115;p10">
            <a:extLst>
              <a:ext uri="{FF2B5EF4-FFF2-40B4-BE49-F238E27FC236}">
                <a16:creationId xmlns:a16="http://schemas.microsoft.com/office/drawing/2014/main" id="{028D9F24-9341-4412-AE06-71C19E55D5F4}"/>
              </a:ext>
            </a:extLst>
          </p:cNvPr>
          <p:cNvSpPr>
            <a:spLocks noGrp="1"/>
          </p:cNvSpPr>
          <p:nvPr/>
        </p:nvSpPr>
        <p:spPr>
          <a:xfrm>
            <a:off x="658368" y="6355080"/>
            <a:ext cx="54864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$ </a:t>
            </a:r>
            <a:r>
              <a:rPr sz="11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форматы</a:t>
            </a:r>
            <a:endParaRPr sz="11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9975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>
            <a:extLst>
              <a:ext uri="{FF2B5EF4-FFF2-40B4-BE49-F238E27FC236}">
                <a16:creationId xmlns:a16="http://schemas.microsoft.com/office/drawing/2014/main" id="{790B7463-A53F-46E1-98CB-E63F463A480C}"/>
              </a:ext>
            </a:extLst>
          </p:cNvPr>
          <p:cNvSpPr>
            <a:spLocks noGrp="1"/>
          </p:cNvSpPr>
          <p:nvPr/>
        </p:nvSpPr>
        <p:spPr>
          <a:xfrm>
            <a:off x="658368" y="566928"/>
            <a:ext cx="10881300" cy="31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$ </a:t>
            </a:r>
            <a:r>
              <a:rPr sz="13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pipeline </a:t>
            </a:r>
            <a:r>
              <a:rPr sz="13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что происходит после «я написал код»</a:t>
            </a:r>
            <a:endParaRPr sz="13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Google Shape;122;p3">
            <a:extLst>
              <a:ext uri="{FF2B5EF4-FFF2-40B4-BE49-F238E27FC236}">
                <a16:creationId xmlns:a16="http://schemas.microsoft.com/office/drawing/2014/main" id="{1B666028-E6D1-4D93-B899-EAF6E5A0843C}"/>
              </a:ext>
            </a:extLst>
          </p:cNvPr>
          <p:cNvSpPr>
            <a:spLocks noGrp="1"/>
          </p:cNvSpPr>
          <p:nvPr/>
        </p:nvSpPr>
        <p:spPr>
          <a:xfrm>
            <a:off x="658368" y="1024128"/>
            <a:ext cx="10872300" cy="111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">
            <a:extLst>
              <a:ext uri="{FF2B5EF4-FFF2-40B4-BE49-F238E27FC236}">
                <a16:creationId xmlns:a16="http://schemas.microsoft.com/office/drawing/2014/main" id="{C66998FE-44C8-4C5B-A41C-BFC2B5AE9F5C}"/>
              </a:ext>
            </a:extLst>
          </p:cNvPr>
          <p:cNvSpPr>
            <a:spLocks noGrp="1"/>
          </p:cNvSpPr>
          <p:nvPr/>
        </p:nvSpPr>
        <p:spPr>
          <a:xfrm>
            <a:off x="658368" y="1298448"/>
            <a:ext cx="10881300" cy="41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635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Кто такой DevOps-инженер?</a:t>
            </a:r>
            <a:br>
              <a:rPr sz="2635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</a:br>
            <a:r>
              <a:rPr sz="2635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Разработчик написал код.</a:t>
            </a:r>
          </a:p>
        </p:txBody>
      </p:sp>
      <p:sp>
        <p:nvSpPr>
          <p:cNvPr id="124" name="Google Shape;124;p3">
            <a:extLst>
              <a:ext uri="{FF2B5EF4-FFF2-40B4-BE49-F238E27FC236}">
                <a16:creationId xmlns:a16="http://schemas.microsoft.com/office/drawing/2014/main" id="{55C03696-FC0A-4BC4-A193-DF3C39DEBACF}"/>
              </a:ext>
            </a:extLst>
          </p:cNvPr>
          <p:cNvSpPr>
            <a:spLocks noGrp="1"/>
          </p:cNvSpPr>
          <p:nvPr/>
        </p:nvSpPr>
        <p:spPr>
          <a:xfrm>
            <a:off x="658368" y="2487168"/>
            <a:ext cx="108813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Дальше начинается </a:t>
            </a:r>
            <a:r>
              <a:rPr sz="3800" b="1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наша часть.</a:t>
            </a:r>
            <a:endParaRPr sz="3800" b="1" i="0">
              <a:solidFill>
                <a:srgbClr val="71717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Google Shape;125;p3">
            <a:extLst>
              <a:ext uri="{FF2B5EF4-FFF2-40B4-BE49-F238E27FC236}">
                <a16:creationId xmlns:a16="http://schemas.microsoft.com/office/drawing/2014/main" id="{161F851E-76D9-46B1-8F8C-8FF137547FA8}"/>
              </a:ext>
            </a:extLst>
          </p:cNvPr>
          <p:cNvSpPr>
            <a:spLocks noGrp="1"/>
          </p:cNvSpPr>
          <p:nvPr/>
        </p:nvSpPr>
        <p:spPr>
          <a:xfrm>
            <a:off x="1143000" y="3611880"/>
            <a:ext cx="9829800" cy="11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3">
            <a:extLst>
              <a:ext uri="{FF2B5EF4-FFF2-40B4-BE49-F238E27FC236}">
                <a16:creationId xmlns:a16="http://schemas.microsoft.com/office/drawing/2014/main" id="{6E8EDDD7-98F9-4CAA-95F2-91285631C8C7}"/>
              </a:ext>
            </a:extLst>
          </p:cNvPr>
          <p:cNvSpPr>
            <a:spLocks noGrp="1"/>
          </p:cNvSpPr>
          <p:nvPr/>
        </p:nvSpPr>
        <p:spPr>
          <a:xfrm>
            <a:off x="1060704" y="3543300"/>
            <a:ext cx="164700" cy="164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">
            <a:extLst>
              <a:ext uri="{FF2B5EF4-FFF2-40B4-BE49-F238E27FC236}">
                <a16:creationId xmlns:a16="http://schemas.microsoft.com/office/drawing/2014/main" id="{EDECA7AC-438E-4131-876E-8D32D996E3E0}"/>
              </a:ext>
            </a:extLst>
          </p:cNvPr>
          <p:cNvSpPr>
            <a:spLocks noGrp="1"/>
          </p:cNvSpPr>
          <p:nvPr/>
        </p:nvSpPr>
        <p:spPr>
          <a:xfrm>
            <a:off x="91440" y="3904488"/>
            <a:ext cx="21030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код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написал</a:t>
            </a:r>
            <a:endParaRPr sz="1400" b="1" i="0">
              <a:solidFill>
                <a:srgbClr val="1818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Google Shape;128;p3">
            <a:extLst>
              <a:ext uri="{FF2B5EF4-FFF2-40B4-BE49-F238E27FC236}">
                <a16:creationId xmlns:a16="http://schemas.microsoft.com/office/drawing/2014/main" id="{2616EB2B-3C34-4CE0-AD61-9BE82B5541F1}"/>
              </a:ext>
            </a:extLst>
          </p:cNvPr>
          <p:cNvSpPr>
            <a:spLocks noGrp="1"/>
          </p:cNvSpPr>
          <p:nvPr/>
        </p:nvSpPr>
        <p:spPr>
          <a:xfrm>
            <a:off x="3518154" y="3543300"/>
            <a:ext cx="164700" cy="164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3">
            <a:extLst>
              <a:ext uri="{FF2B5EF4-FFF2-40B4-BE49-F238E27FC236}">
                <a16:creationId xmlns:a16="http://schemas.microsoft.com/office/drawing/2014/main" id="{B339A838-0A8A-402C-9D84-6BC4EEE612F3}"/>
              </a:ext>
            </a:extLst>
          </p:cNvPr>
          <p:cNvSpPr>
            <a:spLocks noGrp="1"/>
          </p:cNvSpPr>
          <p:nvPr/>
        </p:nvSpPr>
        <p:spPr>
          <a:xfrm>
            <a:off x="2548890" y="3904488"/>
            <a:ext cx="21030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сборка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собрали</a:t>
            </a:r>
            <a:endParaRPr sz="1400" b="1" i="0">
              <a:solidFill>
                <a:srgbClr val="1818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BD6EC9A1-A5AE-473E-8CE7-7EEE2F4E8ABA}"/>
              </a:ext>
            </a:extLst>
          </p:cNvPr>
          <p:cNvSpPr>
            <a:spLocks noGrp="1"/>
          </p:cNvSpPr>
          <p:nvPr/>
        </p:nvSpPr>
        <p:spPr>
          <a:xfrm>
            <a:off x="5975604" y="3543300"/>
            <a:ext cx="164700" cy="164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4BF24F26-DCFA-4D57-9B5F-BF39C972058F}"/>
              </a:ext>
            </a:extLst>
          </p:cNvPr>
          <p:cNvSpPr>
            <a:spLocks noGrp="1"/>
          </p:cNvSpPr>
          <p:nvPr/>
        </p:nvSpPr>
        <p:spPr>
          <a:xfrm>
            <a:off x="5006340" y="3904488"/>
            <a:ext cx="21030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тесты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проверили</a:t>
            </a:r>
            <a:endParaRPr sz="1400" b="1" i="0">
              <a:solidFill>
                <a:srgbClr val="1818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Google Shape;132;p3">
            <a:extLst>
              <a:ext uri="{FF2B5EF4-FFF2-40B4-BE49-F238E27FC236}">
                <a16:creationId xmlns:a16="http://schemas.microsoft.com/office/drawing/2014/main" id="{DBBF32A0-8540-4A0F-B583-02E96B5A7688}"/>
              </a:ext>
            </a:extLst>
          </p:cNvPr>
          <p:cNvSpPr>
            <a:spLocks noGrp="1"/>
          </p:cNvSpPr>
          <p:nvPr/>
        </p:nvSpPr>
        <p:spPr>
          <a:xfrm>
            <a:off x="8433054" y="3543300"/>
            <a:ext cx="164700" cy="164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">
            <a:extLst>
              <a:ext uri="{FF2B5EF4-FFF2-40B4-BE49-F238E27FC236}">
                <a16:creationId xmlns:a16="http://schemas.microsoft.com/office/drawing/2014/main" id="{D1A5A222-75F9-477E-B988-6E3ECC3607D5}"/>
              </a:ext>
            </a:extLst>
          </p:cNvPr>
          <p:cNvSpPr>
            <a:spLocks noGrp="1"/>
          </p:cNvSpPr>
          <p:nvPr/>
        </p:nvSpPr>
        <p:spPr>
          <a:xfrm>
            <a:off x="7463790" y="3904488"/>
            <a:ext cx="21030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стейдж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обкатали</a:t>
            </a:r>
            <a:endParaRPr sz="1400" b="1" i="0">
              <a:solidFill>
                <a:srgbClr val="1818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Google Shape;134;p3">
            <a:extLst>
              <a:ext uri="{FF2B5EF4-FFF2-40B4-BE49-F238E27FC236}">
                <a16:creationId xmlns:a16="http://schemas.microsoft.com/office/drawing/2014/main" id="{089037F2-8216-4AEF-9097-357EC61CA8D2}"/>
              </a:ext>
            </a:extLst>
          </p:cNvPr>
          <p:cNvSpPr>
            <a:spLocks noGrp="1"/>
          </p:cNvSpPr>
          <p:nvPr/>
        </p:nvSpPr>
        <p:spPr>
          <a:xfrm>
            <a:off x="10890504" y="3543300"/>
            <a:ext cx="164700" cy="164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3">
            <a:extLst>
              <a:ext uri="{FF2B5EF4-FFF2-40B4-BE49-F238E27FC236}">
                <a16:creationId xmlns:a16="http://schemas.microsoft.com/office/drawing/2014/main" id="{14335F38-7DE2-4FEF-A767-2514DB0F8A54}"/>
              </a:ext>
            </a:extLst>
          </p:cNvPr>
          <p:cNvSpPr>
            <a:spLocks noGrp="1"/>
          </p:cNvSpPr>
          <p:nvPr/>
        </p:nvSpPr>
        <p:spPr>
          <a:xfrm>
            <a:off x="9921240" y="3904488"/>
            <a:ext cx="21030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прод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у пользователей</a:t>
            </a:r>
            <a:endParaRPr sz="1400" b="1" i="0">
              <a:solidFill>
                <a:srgbClr val="1818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Google Shape;136;p3">
            <a:extLst>
              <a:ext uri="{FF2B5EF4-FFF2-40B4-BE49-F238E27FC236}">
                <a16:creationId xmlns:a16="http://schemas.microsoft.com/office/drawing/2014/main" id="{B9E73C29-825F-4C33-B625-EFE5CFC30424}"/>
              </a:ext>
            </a:extLst>
          </p:cNvPr>
          <p:cNvSpPr>
            <a:spLocks noGrp="1"/>
          </p:cNvSpPr>
          <p:nvPr/>
        </p:nvSpPr>
        <p:spPr>
          <a:xfrm>
            <a:off x="658368" y="4800600"/>
            <a:ext cx="10881300" cy="3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A1A1AA"/>
                </a:solidFill>
                <a:latin typeface="Arial"/>
                <a:ea typeface="Arial"/>
                <a:cs typeface="Arial"/>
              </a:rPr>
              <a:t>◄────────────────────────────────────────────────────────────────────────────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137" name="Google Shape;137;p3">
            <a:extLst>
              <a:ext uri="{FF2B5EF4-FFF2-40B4-BE49-F238E27FC236}">
                <a16:creationId xmlns:a16="http://schemas.microsoft.com/office/drawing/2014/main" id="{4F3F24A3-B45E-49C3-8F70-832DD743AF4A}"/>
              </a:ext>
            </a:extLst>
          </p:cNvPr>
          <p:cNvSpPr>
            <a:spLocks noGrp="1"/>
          </p:cNvSpPr>
          <p:nvPr/>
        </p:nvSpPr>
        <p:spPr>
          <a:xfrm>
            <a:off x="658368" y="5074920"/>
            <a:ext cx="10881300" cy="3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мониторинг: узнать, что сломалось, раньше пользователя — и вернуться в начало</a:t>
            </a:r>
          </a:p>
        </p:txBody>
      </p:sp>
      <p:sp>
        <p:nvSpPr>
          <p:cNvPr id="138" name="Google Shape;138;p3">
            <a:extLst>
              <a:ext uri="{FF2B5EF4-FFF2-40B4-BE49-F238E27FC236}">
                <a16:creationId xmlns:a16="http://schemas.microsoft.com/office/drawing/2014/main" id="{1C457312-E016-4202-A721-3D0CEA3ECCB9}"/>
              </a:ext>
            </a:extLst>
          </p:cNvPr>
          <p:cNvSpPr>
            <a:spLocks noGrp="1"/>
          </p:cNvSpPr>
          <p:nvPr/>
        </p:nvSpPr>
        <p:spPr>
          <a:xfrm>
            <a:off x="658368" y="5760720"/>
            <a:ext cx="10872300" cy="111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3">
            <a:extLst>
              <a:ext uri="{FF2B5EF4-FFF2-40B4-BE49-F238E27FC236}">
                <a16:creationId xmlns:a16="http://schemas.microsoft.com/office/drawing/2014/main" id="{BA8907DC-30D4-4E84-9705-5CA48FF2F050}"/>
              </a:ext>
            </a:extLst>
          </p:cNvPr>
          <p:cNvSpPr>
            <a:spLocks noGrp="1"/>
          </p:cNvSpPr>
          <p:nvPr/>
        </p:nvSpPr>
        <p:spPr>
          <a:xfrm>
            <a:off x="658368" y="5916168"/>
            <a:ext cx="10881300" cy="3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чем это делают: </a:t>
            </a:r>
            <a:r>
              <a:rPr sz="1300" b="0" i="0">
                <a:solidFill>
                  <a:srgbClr val="3F3F46"/>
                </a:solidFill>
                <a:latin typeface="Arial"/>
                <a:ea typeface="Arial"/>
                <a:cs typeface="Arial"/>
              </a:rPr>
              <a:t>docker · kubernetes · gitlab-ci · terraform · ansible · prometheus · grafana</a:t>
            </a:r>
            <a:endParaRPr sz="1300" b="0" i="0">
              <a:solidFill>
                <a:srgbClr val="71717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Google Shape;140;p3">
            <a:extLst>
              <a:ext uri="{FF2B5EF4-FFF2-40B4-BE49-F238E27FC236}">
                <a16:creationId xmlns:a16="http://schemas.microsoft.com/office/drawing/2014/main" id="{EF7C71BC-F3B4-4578-B767-090B72445EDD}"/>
              </a:ext>
            </a:extLst>
          </p:cNvPr>
          <p:cNvSpPr>
            <a:spLocks noGrp="1"/>
          </p:cNvSpPr>
          <p:nvPr/>
        </p:nvSpPr>
        <p:spPr>
          <a:xfrm>
            <a:off x="658368" y="6355080"/>
            <a:ext cx="54864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$ </a:t>
            </a:r>
            <a:r>
              <a:rPr sz="11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что такое devops</a:t>
            </a:r>
            <a:endParaRPr sz="1100" b="0" i="0">
              <a:solidFill>
                <a:srgbClr val="D9770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8706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EDC844C-7E98-408B-8A2D-773C447DA0C3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Что сегодня сделаем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B68BAF-AB59-4605-B7A1-E08172D2273E}"/>
              </a:ext>
            </a:extLst>
          </p:cNvPr>
          <p:cNvSpPr>
            <a:spLocks noGrp="1"/>
          </p:cNvSpPr>
          <p:nvPr/>
        </p:nvSpPr>
        <p:spPr>
          <a:xfrm>
            <a:off x="828675" y="1685925"/>
            <a:ext cx="5143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Базовая часть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FAF2B5-C6C2-4949-9BDE-E8F239213F55}"/>
              </a:ext>
            </a:extLst>
          </p:cNvPr>
          <p:cNvSpPr>
            <a:spLocks noGrp="1"/>
          </p:cNvSpPr>
          <p:nvPr/>
        </p:nvSpPr>
        <p:spPr>
          <a:xfrm>
            <a:off x="6257925" y="1685925"/>
            <a:ext cx="5143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Advanced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1F16A3-4564-48F8-B9C0-266E7BD6910E}"/>
              </a:ext>
            </a:extLst>
          </p:cNvPr>
          <p:cNvSpPr>
            <a:spLocks noGrp="1"/>
          </p:cNvSpPr>
          <p:nvPr/>
        </p:nvSpPr>
        <p:spPr>
          <a:xfrm>
            <a:off x="828675" y="2447925"/>
            <a:ext cx="5143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Контейнеры, образы и registry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E54A39-0865-4E55-AA4B-49AA9EE53E0A}"/>
              </a:ext>
            </a:extLst>
          </p:cNvPr>
          <p:cNvSpPr>
            <a:spLocks noGrp="1"/>
          </p:cNvSpPr>
          <p:nvPr/>
        </p:nvSpPr>
        <p:spPr>
          <a:xfrm>
            <a:off x="828675" y="3143250"/>
            <a:ext cx="5143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Dockerfile и кэш сборки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8F7578-401F-4073-8275-9E465B1B75BA}"/>
              </a:ext>
            </a:extLst>
          </p:cNvPr>
          <p:cNvSpPr>
            <a:spLocks noGrp="1"/>
          </p:cNvSpPr>
          <p:nvPr/>
        </p:nvSpPr>
        <p:spPr>
          <a:xfrm>
            <a:off x="828675" y="3838575"/>
            <a:ext cx="5143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Compose: приложение и Redis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005A29-7C3F-49C8-A5BF-6DA9481DEA78}"/>
              </a:ext>
            </a:extLst>
          </p:cNvPr>
          <p:cNvSpPr>
            <a:spLocks noGrp="1"/>
          </p:cNvSpPr>
          <p:nvPr/>
        </p:nvSpPr>
        <p:spPr>
          <a:xfrm>
            <a:off x="828675" y="4533900"/>
            <a:ext cx="5143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Harbor: push, pull и сканирование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539EFE-5F18-48A7-A762-08CDF6A73BAC}"/>
              </a:ext>
            </a:extLst>
          </p:cNvPr>
          <p:cNvSpPr>
            <a:spLocks noGrp="1"/>
          </p:cNvSpPr>
          <p:nvPr/>
        </p:nvSpPr>
        <p:spPr>
          <a:xfrm>
            <a:off x="6257925" y="2447925"/>
            <a:ext cx="5143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Namespaces и cgroups v2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D0DB52-BA8D-407F-A7D2-0EE6CE13BBCB}"/>
              </a:ext>
            </a:extLst>
          </p:cNvPr>
          <p:cNvSpPr>
            <a:spLocks noGrp="1"/>
          </p:cNvSpPr>
          <p:nvPr/>
        </p:nvSpPr>
        <p:spPr>
          <a:xfrm>
            <a:off x="6257925" y="3143250"/>
            <a:ext cx="5143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Multistage и Hadolint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F9E46B-F425-4CAC-BDDC-F9F303FEA2EC}"/>
              </a:ext>
            </a:extLst>
          </p:cNvPr>
          <p:cNvSpPr>
            <a:spLocks noGrp="1"/>
          </p:cNvSpPr>
          <p:nvPr/>
        </p:nvSpPr>
        <p:spPr>
          <a:xfrm>
            <a:off x="6257925" y="3838575"/>
            <a:ext cx="5143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Подпись через OpenSSL и volumes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CBBFA8-66DA-4ABE-8955-0629749BA7F7}"/>
              </a:ext>
            </a:extLst>
          </p:cNvPr>
          <p:cNvSpPr>
            <a:spLocks noGrp="1"/>
          </p:cNvSpPr>
          <p:nvPr/>
        </p:nvSpPr>
        <p:spPr>
          <a:xfrm>
            <a:off x="828675" y="5753100"/>
            <a:ext cx="104775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Результат базы: свой образ в Harbor и отчёт Trivy</a:t>
            </a:r>
          </a:p>
        </p:txBody>
      </p:sp>
    </p:spTree>
    <p:extLst>
      <p:ext uri="{BB962C8B-B14F-4D97-AF65-F5344CB8AC3E}">
        <p14:creationId xmlns:p14="http://schemas.microsoft.com/office/powerpoint/2010/main" val="100224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D3F77C4-7290-4800-91CF-0F4130F9D2DF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Базовая часть: Docker и Harbor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CF1D58-5326-4BAA-A9E0-6BAD749F62DA}"/>
              </a:ext>
            </a:extLst>
          </p:cNvPr>
          <p:cNvSpPr>
            <a:spLocks noGrp="1"/>
          </p:cNvSpPr>
          <p:nvPr/>
        </p:nvSpPr>
        <p:spPr>
          <a:xfrm>
            <a:off x="828675" y="1695450"/>
            <a:ext cx="10477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18181B"/>
                </a:solidFill>
                <a:latin typeface="Menlo"/>
                <a:ea typeface="Menlo"/>
                <a:cs typeface="Menlo"/>
              </a:rPr>
              <a:t>inview@club:~$ ./docker --basic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0F1429-F51A-4870-8665-A8F6940DBF28}"/>
              </a:ext>
            </a:extLst>
          </p:cNvPr>
          <p:cNvSpPr>
            <a:spLocks noGrp="1"/>
          </p:cNvSpPr>
          <p:nvPr/>
        </p:nvSpPr>
        <p:spPr>
          <a:xfrm>
            <a:off x="828675" y="3781425"/>
            <a:ext cx="104775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Контейнеры и образы: как устроен Docker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5F7325-51DA-4090-A923-C5BE31BBDF5C}"/>
              </a:ext>
            </a:extLst>
          </p:cNvPr>
          <p:cNvSpPr>
            <a:spLocks noGrp="1"/>
          </p:cNvSpPr>
          <p:nvPr/>
        </p:nvSpPr>
        <p:spPr>
          <a:xfrm>
            <a:off x="828675" y="4533900"/>
            <a:ext cx="104775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Практика: Dockerfile и Compose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22120D-0689-4EB3-94F8-BB1A6DB32C99}"/>
              </a:ext>
            </a:extLst>
          </p:cNvPr>
          <p:cNvSpPr>
            <a:spLocks noGrp="1"/>
          </p:cNvSpPr>
          <p:nvPr/>
        </p:nvSpPr>
        <p:spPr>
          <a:xfrm>
            <a:off x="828675" y="5286375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Harbor: хранение образов и сканирование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94711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. Контейнер и виртуальная машина">
            <a:extLst>
              <a:ext uri="{FF2B5EF4-FFF2-40B4-BE49-F238E27FC236}">
                <a16:creationId xmlns:a16="http://schemas.microsoft.com/office/drawing/2014/main" id="{78B781CC-283A-4662-81B7-E07D70B8F14D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1. Контейнер и виртуальная машина</a:t>
            </a:r>
          </a:p>
        </p:txBody>
      </p:sp>
      <p:sp>
        <p:nvSpPr>
          <p:cNvPr id="2" name="Виртуальная машина">
            <a:extLst>
              <a:ext uri="{FF2B5EF4-FFF2-40B4-BE49-F238E27FC236}">
                <a16:creationId xmlns:a16="http://schemas.microsoft.com/office/drawing/2014/main" id="{F5E9C566-82D8-43A7-9F4D-2DBEEADF99A6}"/>
              </a:ext>
            </a:extLst>
          </p:cNvPr>
          <p:cNvSpPr>
            <a:spLocks noGrp="1"/>
          </p:cNvSpPr>
          <p:nvPr/>
        </p:nvSpPr>
        <p:spPr>
          <a:xfrm>
            <a:off x="828675" y="1704975"/>
            <a:ext cx="4857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Виртуальная машина</a:t>
            </a:r>
          </a:p>
        </p:txBody>
      </p:sp>
      <p:sp>
        <p:nvSpPr>
          <p:cNvPr id="3" name="Контейнер">
            <a:extLst>
              <a:ext uri="{FF2B5EF4-FFF2-40B4-BE49-F238E27FC236}">
                <a16:creationId xmlns:a16="http://schemas.microsoft.com/office/drawing/2014/main" id="{2032607C-2F3F-4D8E-8548-C9751E275444}"/>
              </a:ext>
            </a:extLst>
          </p:cNvPr>
          <p:cNvSpPr>
            <a:spLocks noGrp="1"/>
          </p:cNvSpPr>
          <p:nvPr/>
        </p:nvSpPr>
        <p:spPr>
          <a:xfrm>
            <a:off x="6429375" y="1704975"/>
            <a:ext cx="4857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Контейнер</a:t>
            </a:r>
          </a:p>
        </p:txBody>
      </p:sp>
      <p:sp>
        <p:nvSpPr>
          <p:cNvPr id="4" name="Собственная гостевая ОС и ядро.&#10;&#10;Гипервизор предос">
            <a:extLst>
              <a:ext uri="{FF2B5EF4-FFF2-40B4-BE49-F238E27FC236}">
                <a16:creationId xmlns:a16="http://schemas.microsoft.com/office/drawing/2014/main" id="{A287E578-1844-4A49-84C9-03C2727717E9}"/>
              </a:ext>
            </a:extLst>
          </p:cNvPr>
          <p:cNvSpPr>
            <a:spLocks noGrp="1"/>
          </p:cNvSpPr>
          <p:nvPr/>
        </p:nvSpPr>
        <p:spPr>
          <a:xfrm>
            <a:off x="828675" y="2552700"/>
            <a:ext cx="4810125" cy="2857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Собственная гостевая ОС и ядро.</a:t>
            </a:r>
          </a:p>
          <a:p>
            <a:endParaRPr sz="2000" b="0">
              <a:solidFill>
                <a:srgbClr val="18181B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Гипервизор предоставляет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виртуальное оборудование.</a:t>
            </a:r>
          </a:p>
          <a:p>
            <a:endParaRPr sz="2000" b="0">
              <a:solidFill>
                <a:srgbClr val="18181B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Можно запускать другую ОС.</a:t>
            </a:r>
          </a:p>
        </p:txBody>
      </p:sp>
      <p:sp>
        <p:nvSpPr>
          <p:cNvPr id="5" name="Изолированный процесс.&#10;&#10;Linux-контейнеры использую">
            <a:extLst>
              <a:ext uri="{FF2B5EF4-FFF2-40B4-BE49-F238E27FC236}">
                <a16:creationId xmlns:a16="http://schemas.microsoft.com/office/drawing/2014/main" id="{5382F9C0-1F5A-42CC-9312-A6BBCFBF606D}"/>
              </a:ext>
            </a:extLst>
          </p:cNvPr>
          <p:cNvSpPr>
            <a:spLocks noGrp="1"/>
          </p:cNvSpPr>
          <p:nvPr/>
        </p:nvSpPr>
        <p:spPr>
          <a:xfrm>
            <a:off x="6429375" y="2552700"/>
            <a:ext cx="4762500" cy="3190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Изолированный процесс.</a:t>
            </a:r>
          </a:p>
          <a:p>
            <a:endParaRPr sz="2000" b="0">
              <a:solidFill>
                <a:srgbClr val="18181B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Linux-контейнеры используют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ядро Linux-хоста.</a:t>
            </a:r>
          </a:p>
          <a:p>
            <a:endParaRPr sz="2000" b="0">
              <a:solidFill>
                <a:srgbClr val="18181B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Файлы приложения приходят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из образа.</a:t>
            </a:r>
          </a:p>
        </p:txBody>
      </p:sp>
      <p:sp>
        <p:nvSpPr>
          <p:cNvPr id="6" name="Docker Desktop запускает Linux-контейнеры внутри L">
            <a:extLst>
              <a:ext uri="{FF2B5EF4-FFF2-40B4-BE49-F238E27FC236}">
                <a16:creationId xmlns:a16="http://schemas.microsoft.com/office/drawing/2014/main" id="{3557F9FF-41DE-4BBD-8F5D-687BDFBF6393}"/>
              </a:ext>
            </a:extLst>
          </p:cNvPr>
          <p:cNvSpPr>
            <a:spLocks noGrp="1"/>
          </p:cNvSpPr>
          <p:nvPr/>
        </p:nvSpPr>
        <p:spPr>
          <a:xfrm>
            <a:off x="828675" y="592455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71717A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0">
                <a:solidFill>
                  <a:srgbClr val="71717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17A"/>
                </a:solidFill>
                <a:latin typeface="Arial"/>
                <a:ea typeface="Arial"/>
                <a:cs typeface="Arial"/>
              </a:rPr>
              <a:t>Docker Desktop запускает Linux-контейнеры внутри Linux VM</a:t>
            </a:r>
          </a:p>
        </p:txBody>
      </p:sp>
    </p:spTree>
    <p:extLst>
      <p:ext uri="{BB962C8B-B14F-4D97-AF65-F5344CB8AC3E}">
        <p14:creationId xmlns:p14="http://schemas.microsoft.com/office/powerpoint/2010/main" val="793871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Что изолирует процесс">
            <a:extLst>
              <a:ext uri="{FF2B5EF4-FFF2-40B4-BE49-F238E27FC236}">
                <a16:creationId xmlns:a16="http://schemas.microsoft.com/office/drawing/2014/main" id="{0018EBB3-38B6-49FD-AF10-4CCC2F84C9E3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Что изолирует процесс</a:t>
            </a:r>
          </a:p>
        </p:txBody>
      </p:sp>
      <p:sp>
        <p:nvSpPr>
          <p:cNvPr id="2" name="Namespaces задают отдельные представления процессо">
            <a:extLst>
              <a:ext uri="{FF2B5EF4-FFF2-40B4-BE49-F238E27FC236}">
                <a16:creationId xmlns:a16="http://schemas.microsoft.com/office/drawing/2014/main" id="{F9D63CC0-4C93-49F1-80B0-8D97015C8AFE}"/>
              </a:ext>
            </a:extLst>
          </p:cNvPr>
          <p:cNvSpPr>
            <a:spLocks noGrp="1"/>
          </p:cNvSpPr>
          <p:nvPr/>
        </p:nvSpPr>
        <p:spPr>
          <a:xfrm>
            <a:off x="828675" y="1685925"/>
            <a:ext cx="10429875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Namespaces задают отдельные представления процессов,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сети, точек монтирования и других ресурсов.</a:t>
            </a:r>
          </a:p>
        </p:txBody>
      </p:sp>
      <p:sp>
        <p:nvSpPr>
          <p:cNvPr id="3" name="Cgroups ограничивают CPU и память, учитывают ресур">
            <a:extLst>
              <a:ext uri="{FF2B5EF4-FFF2-40B4-BE49-F238E27FC236}">
                <a16:creationId xmlns:a16="http://schemas.microsoft.com/office/drawing/2014/main" id="{DB38F46F-BC6A-4313-BAA5-2151DEFA3506}"/>
              </a:ext>
            </a:extLst>
          </p:cNvPr>
          <p:cNvSpPr>
            <a:spLocks noGrp="1"/>
          </p:cNvSpPr>
          <p:nvPr/>
        </p:nvSpPr>
        <p:spPr>
          <a:xfrm>
            <a:off x="828675" y="2714625"/>
            <a:ext cx="10429875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Cgroups ограничивают CPU и память, учитывают ресурсы.</a:t>
            </a:r>
          </a:p>
        </p:txBody>
      </p:sp>
      <p:sp>
        <p:nvSpPr>
          <p:cNvPr id="4" name="Файловая система образа даёт приложению своё окруж">
            <a:extLst>
              <a:ext uri="{FF2B5EF4-FFF2-40B4-BE49-F238E27FC236}">
                <a16:creationId xmlns:a16="http://schemas.microsoft.com/office/drawing/2014/main" id="{FB75F520-8F6D-4822-8A43-D38451B380FC}"/>
              </a:ext>
            </a:extLst>
          </p:cNvPr>
          <p:cNvSpPr>
            <a:spLocks noGrp="1"/>
          </p:cNvSpPr>
          <p:nvPr/>
        </p:nvSpPr>
        <p:spPr>
          <a:xfrm>
            <a:off x="828675" y="3743325"/>
            <a:ext cx="10429875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Файловая система образа даёт приложению своё окружение.</a:t>
            </a:r>
          </a:p>
        </p:txBody>
      </p:sp>
      <p:sp>
        <p:nvSpPr>
          <p:cNvPr id="5" name="Chroot меняет корневую директорию процесса.&#10;Сам по">
            <a:extLst>
              <a:ext uri="{FF2B5EF4-FFF2-40B4-BE49-F238E27FC236}">
                <a16:creationId xmlns:a16="http://schemas.microsoft.com/office/drawing/2014/main" id="{13B34D78-675B-4F7B-9707-4548DC396C97}"/>
              </a:ext>
            </a:extLst>
          </p:cNvPr>
          <p:cNvSpPr>
            <a:spLocks noGrp="1"/>
          </p:cNvSpPr>
          <p:nvPr/>
        </p:nvSpPr>
        <p:spPr>
          <a:xfrm>
            <a:off x="828675" y="4772025"/>
            <a:ext cx="10429875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Chroot меняет корневую директорию процесса.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Сам по себе он не обеспечивает всю изоляцию контейнера.</a:t>
            </a:r>
          </a:p>
        </p:txBody>
      </p:sp>
    </p:spTree>
    <p:extLst>
      <p:ext uri="{BB962C8B-B14F-4D97-AF65-F5344CB8AC3E}">
        <p14:creationId xmlns:p14="http://schemas.microsoft.com/office/powerpoint/2010/main" val="361971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раз, контейнер и registry">
            <a:extLst>
              <a:ext uri="{FF2B5EF4-FFF2-40B4-BE49-F238E27FC236}">
                <a16:creationId xmlns:a16="http://schemas.microsoft.com/office/drawing/2014/main" id="{9F684FCF-9526-4976-9A9F-57FD43DCB2EF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Образ, контейнер и registry</a:t>
            </a:r>
          </a:p>
        </p:txBody>
      </p:sp>
      <p:sp>
        <p:nvSpPr>
          <p:cNvPr id="2" name="Образ (image) содержит код, зависимости и настройк">
            <a:extLst>
              <a:ext uri="{FF2B5EF4-FFF2-40B4-BE49-F238E27FC236}">
                <a16:creationId xmlns:a16="http://schemas.microsoft.com/office/drawing/2014/main" id="{BB2A5C30-DC9B-40A3-91C8-ED420B0D0C70}"/>
              </a:ext>
            </a:extLst>
          </p:cNvPr>
          <p:cNvSpPr>
            <a:spLocks noGrp="1"/>
          </p:cNvSpPr>
          <p:nvPr/>
        </p:nvSpPr>
        <p:spPr>
          <a:xfrm>
            <a:off x="828675" y="1685925"/>
            <a:ext cx="1042987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Образ (image) содержит код, зависимости и настройки запуска.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Его слои неизменяемы.</a:t>
            </a:r>
          </a:p>
        </p:txBody>
      </p:sp>
      <p:sp>
        <p:nvSpPr>
          <p:cNvPr id="3" name="Контейнер (container) создаётся из образа и получа">
            <a:extLst>
              <a:ext uri="{FF2B5EF4-FFF2-40B4-BE49-F238E27FC236}">
                <a16:creationId xmlns:a16="http://schemas.microsoft.com/office/drawing/2014/main" id="{0814E8F6-233B-4FEC-B664-10E1AC2E031E}"/>
              </a:ext>
            </a:extLst>
          </p:cNvPr>
          <p:cNvSpPr>
            <a:spLocks noGrp="1"/>
          </p:cNvSpPr>
          <p:nvPr/>
        </p:nvSpPr>
        <p:spPr>
          <a:xfrm>
            <a:off x="828675" y="2752725"/>
            <a:ext cx="1042987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Контейнер (container) создаётся из образа и получает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собственный слой записи. Он может работать или быть остановлен.</a:t>
            </a:r>
          </a:p>
        </p:txBody>
      </p:sp>
      <p:sp>
        <p:nvSpPr>
          <p:cNvPr id="4" name="Registry хранит и раздаёт образы.&#10;Repository объед">
            <a:extLst>
              <a:ext uri="{FF2B5EF4-FFF2-40B4-BE49-F238E27FC236}">
                <a16:creationId xmlns:a16="http://schemas.microsoft.com/office/drawing/2014/main" id="{3BE6D3FB-DB81-4554-BC90-9C80915077D9}"/>
              </a:ext>
            </a:extLst>
          </p:cNvPr>
          <p:cNvSpPr>
            <a:spLocks noGrp="1"/>
          </p:cNvSpPr>
          <p:nvPr/>
        </p:nvSpPr>
        <p:spPr>
          <a:xfrm>
            <a:off x="828675" y="3819525"/>
            <a:ext cx="1042987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Registry хранит и раздаёт образы.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Repository объединяет версии одного образа.</a:t>
            </a:r>
          </a:p>
        </p:txBody>
      </p:sp>
      <p:sp>
        <p:nvSpPr>
          <p:cNvPr id="5" name="Тег, например :1.0, может указывать на новый образ">
            <a:extLst>
              <a:ext uri="{FF2B5EF4-FFF2-40B4-BE49-F238E27FC236}">
                <a16:creationId xmlns:a16="http://schemas.microsoft.com/office/drawing/2014/main" id="{789273A8-3198-4B7E-A61A-6B11D703C0E9}"/>
              </a:ext>
            </a:extLst>
          </p:cNvPr>
          <p:cNvSpPr>
            <a:spLocks noGrp="1"/>
          </p:cNvSpPr>
          <p:nvPr/>
        </p:nvSpPr>
        <p:spPr>
          <a:xfrm>
            <a:off x="828675" y="4886325"/>
            <a:ext cx="1042987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Тег, например :1.0, может указывать на новый образ.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Digest sha256:… идентифицирует конкретное содержимое.</a:t>
            </a:r>
          </a:p>
        </p:txBody>
      </p:sp>
    </p:spTree>
    <p:extLst>
      <p:ext uri="{BB962C8B-B14F-4D97-AF65-F5344CB8AC3E}">
        <p14:creationId xmlns:p14="http://schemas.microsoft.com/office/powerpoint/2010/main" val="1707774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Как Docker выполняет команды">
            <a:extLst>
              <a:ext uri="{FF2B5EF4-FFF2-40B4-BE49-F238E27FC236}">
                <a16:creationId xmlns:a16="http://schemas.microsoft.com/office/drawing/2014/main" id="{DF4F5FAF-8B0D-40A8-8407-E7160B4E0DAE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Как Docker выполняет команды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E00668-1E5A-4D15-9641-71DCB5E4F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234985" y="1476375"/>
            <a:ext cx="7626779" cy="4286250"/>
          </a:xfrm>
          <a:prstGeom prst="rect">
            <a:avLst/>
          </a:prstGeom>
        </p:spPr>
      </p:pic>
      <p:sp>
        <p:nvSpPr>
          <p:cNvPr id="3" name="CLI отправляет запросы daemon. Сборку образов выпо">
            <a:extLst>
              <a:ext uri="{FF2B5EF4-FFF2-40B4-BE49-F238E27FC236}">
                <a16:creationId xmlns:a16="http://schemas.microsoft.com/office/drawing/2014/main" id="{A4EA8F2E-9B76-4FAD-AA54-F8A76DCD6C24}"/>
              </a:ext>
            </a:extLst>
          </p:cNvPr>
          <p:cNvSpPr>
            <a:spLocks noGrp="1"/>
          </p:cNvSpPr>
          <p:nvPr/>
        </p:nvSpPr>
        <p:spPr>
          <a:xfrm>
            <a:off x="828675" y="6019800"/>
            <a:ext cx="10477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71717A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0">
                <a:solidFill>
                  <a:srgbClr val="71717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1717A"/>
                </a:solidFill>
                <a:latin typeface="Arial"/>
                <a:ea typeface="Arial"/>
                <a:cs typeface="Arial"/>
              </a:rPr>
              <a:t>CLI отправляет запросы daemon. Сборку образов выполняет BuildKit.</a:t>
            </a:r>
          </a:p>
        </p:txBody>
      </p:sp>
    </p:spTree>
    <p:extLst>
      <p:ext uri="{BB962C8B-B14F-4D97-AF65-F5344CB8AC3E}">
        <p14:creationId xmlns:p14="http://schemas.microsoft.com/office/powerpoint/2010/main" val="1372056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лои и кэш сборки">
            <a:extLst>
              <a:ext uri="{FF2B5EF4-FFF2-40B4-BE49-F238E27FC236}">
                <a16:creationId xmlns:a16="http://schemas.microsoft.com/office/drawing/2014/main" id="{260E4D16-89BA-4CC9-8D93-E52FB9B769FD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Слои и кэш сборки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4E0659-87DA-4225-882D-98D52B7BE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0" y="1850387"/>
            <a:ext cx="5381625" cy="2966726"/>
          </a:xfrm>
          <a:prstGeom prst="rect">
            <a:avLst/>
          </a:prstGeom>
        </p:spPr>
      </p:pic>
      <p:sp>
        <p:nvSpPr>
          <p:cNvPr id="3" name="Образ состоит из слоёв.&#10;&#10;Контейнер добавляет слой ">
            <a:extLst>
              <a:ext uri="{FF2B5EF4-FFF2-40B4-BE49-F238E27FC236}">
                <a16:creationId xmlns:a16="http://schemas.microsoft.com/office/drawing/2014/main" id="{3B4D31CA-8D40-4ADA-913E-B66AFBB28695}"/>
              </a:ext>
            </a:extLst>
          </p:cNvPr>
          <p:cNvSpPr>
            <a:spLocks noGrp="1"/>
          </p:cNvSpPr>
          <p:nvPr/>
        </p:nvSpPr>
        <p:spPr>
          <a:xfrm>
            <a:off x="828675" y="1733550"/>
            <a:ext cx="4857750" cy="3714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Образ состоит из слоёв.</a:t>
            </a:r>
          </a:p>
          <a:p>
            <a:endParaRPr sz="2000" b="0">
              <a:solidFill>
                <a:srgbClr val="18181B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Контейнер добавляет слой записи.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При удалении контейнера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этот слой исчезает.</a:t>
            </a:r>
          </a:p>
          <a:p>
            <a:endParaRPr sz="2000" b="0">
              <a:solidFill>
                <a:srgbClr val="18181B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Изменение шага сборки может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потребовать пересобрать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последующие шаги.</a:t>
            </a:r>
          </a:p>
        </p:txBody>
      </p:sp>
      <p:sp>
        <p:nvSpPr>
          <p:cNvPr id="4" name="Данные приложения храним в volumes или bind mounts">
            <a:extLst>
              <a:ext uri="{FF2B5EF4-FFF2-40B4-BE49-F238E27FC236}">
                <a16:creationId xmlns:a16="http://schemas.microsoft.com/office/drawing/2014/main" id="{CCAB39E5-D852-41C6-B446-9B469A0B8ECD}"/>
              </a:ext>
            </a:extLst>
          </p:cNvPr>
          <p:cNvSpPr>
            <a:spLocks noGrp="1"/>
          </p:cNvSpPr>
          <p:nvPr/>
        </p:nvSpPr>
        <p:spPr>
          <a:xfrm>
            <a:off x="828675" y="5915025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Данные приложения храним в volumes или bind mounts</a:t>
            </a:r>
          </a:p>
        </p:txBody>
      </p:sp>
    </p:spTree>
    <p:extLst>
      <p:ext uri="{BB962C8B-B14F-4D97-AF65-F5344CB8AC3E}">
        <p14:creationId xmlns:p14="http://schemas.microsoft.com/office/powerpoint/2010/main" val="709086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C046321-4377-47B0-AF2D-DCAA65434BAF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Первый контейнер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BEFA06-187F-46FB-942C-709E8268C0CA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36245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762321-1C96-439B-8D0C-BEE4A08CC8F3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Публикуем порт только на этом компьютере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B7DF1E-65E4-4044-AA37-FA7CBA8B8127}"/>
              </a:ext>
            </a:extLst>
          </p:cNvPr>
          <p:cNvSpPr>
            <a:spLocks noGrp="1"/>
          </p:cNvSpPr>
          <p:nvPr/>
        </p:nvSpPr>
        <p:spPr>
          <a:xfrm>
            <a:off x="1057275" y="2000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run -d --name web-demo \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EE997E-95B4-48DF-A298-529405491E6B}"/>
              </a:ext>
            </a:extLst>
          </p:cNvPr>
          <p:cNvSpPr>
            <a:spLocks noGrp="1"/>
          </p:cNvSpPr>
          <p:nvPr/>
        </p:nvSpPr>
        <p:spPr>
          <a:xfrm>
            <a:off x="1057275" y="23050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-p 127.0.0.1:8080:80 nginx:stable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9A0C61-6F37-4EA0-B2A6-90D1F6D82CE8}"/>
              </a:ext>
            </a:extLst>
          </p:cNvPr>
          <p:cNvSpPr>
            <a:spLocks noGrp="1"/>
          </p:cNvSpPr>
          <p:nvPr/>
        </p:nvSpPr>
        <p:spPr>
          <a:xfrm>
            <a:off x="1057275" y="26098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11581-C47D-40F9-B108-EAD8F2A11053}"/>
              </a:ext>
            </a:extLst>
          </p:cNvPr>
          <p:cNvSpPr>
            <a:spLocks noGrp="1"/>
          </p:cNvSpPr>
          <p:nvPr/>
        </p:nvSpPr>
        <p:spPr>
          <a:xfrm>
            <a:off x="1057275" y="29146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Проверяем ответ, логи и конфигурацию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18D3D0-248A-4CD4-89F8-FEF34AA37C09}"/>
              </a:ext>
            </a:extLst>
          </p:cNvPr>
          <p:cNvSpPr>
            <a:spLocks noGrp="1"/>
          </p:cNvSpPr>
          <p:nvPr/>
        </p:nvSpPr>
        <p:spPr>
          <a:xfrm>
            <a:off x="1057275" y="3219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curl http://localhost:8080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273A81-3EA5-495D-828E-1E526C4D0E5C}"/>
              </a:ext>
            </a:extLst>
          </p:cNvPr>
          <p:cNvSpPr>
            <a:spLocks noGrp="1"/>
          </p:cNvSpPr>
          <p:nvPr/>
        </p:nvSpPr>
        <p:spPr>
          <a:xfrm>
            <a:off x="1057275" y="3524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logs web-demo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09855E-5081-4B4A-AED4-B3CBD9727A79}"/>
              </a:ext>
            </a:extLst>
          </p:cNvPr>
          <p:cNvSpPr>
            <a:spLocks noGrp="1"/>
          </p:cNvSpPr>
          <p:nvPr/>
        </p:nvSpPr>
        <p:spPr>
          <a:xfrm>
            <a:off x="1057275" y="38290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exec web-demo nginx -t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19B13C-6E92-4CF2-AE26-3D2B93D886F9}"/>
              </a:ext>
            </a:extLst>
          </p:cNvPr>
          <p:cNvSpPr>
            <a:spLocks noGrp="1"/>
          </p:cNvSpPr>
          <p:nvPr/>
        </p:nvSpPr>
        <p:spPr>
          <a:xfrm>
            <a:off x="1057275" y="41338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4720D0-EFC4-46CD-B1C6-3F95CBAE2F31}"/>
              </a:ext>
            </a:extLst>
          </p:cNvPr>
          <p:cNvSpPr>
            <a:spLocks noGrp="1"/>
          </p:cNvSpPr>
          <p:nvPr/>
        </p:nvSpPr>
        <p:spPr>
          <a:xfrm>
            <a:off x="1057275" y="44386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Контейнер удаляем, образ остаётся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6E3036-BB98-4D69-A21F-4E2873172F07}"/>
              </a:ext>
            </a:extLst>
          </p:cNvPr>
          <p:cNvSpPr>
            <a:spLocks noGrp="1"/>
          </p:cNvSpPr>
          <p:nvPr/>
        </p:nvSpPr>
        <p:spPr>
          <a:xfrm>
            <a:off x="1057275" y="4743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stop web-demo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7C7FA0-255B-46D6-A0F5-AB3D3CCB99F0}"/>
              </a:ext>
            </a:extLst>
          </p:cNvPr>
          <p:cNvSpPr>
            <a:spLocks noGrp="1"/>
          </p:cNvSpPr>
          <p:nvPr/>
        </p:nvSpPr>
        <p:spPr>
          <a:xfrm>
            <a:off x="1057275" y="5048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rm web-demo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2B4308-8637-4CE4-8655-F962D69D19A5}"/>
              </a:ext>
            </a:extLst>
          </p:cNvPr>
          <p:cNvSpPr>
            <a:spLocks noGrp="1"/>
          </p:cNvSpPr>
          <p:nvPr/>
        </p:nvSpPr>
        <p:spPr>
          <a:xfrm>
            <a:off x="828675" y="6181725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-d — запуск в фоне. -p — порт хоста:порт контейнера.</a:t>
            </a:r>
          </a:p>
        </p:txBody>
      </p:sp>
    </p:spTree>
    <p:extLst>
      <p:ext uri="{BB962C8B-B14F-4D97-AF65-F5344CB8AC3E}">
        <p14:creationId xmlns:p14="http://schemas.microsoft.com/office/powerpoint/2010/main" val="571372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дание 1. Запуск контейнера (10 минут)">
            <a:extLst>
              <a:ext uri="{FF2B5EF4-FFF2-40B4-BE49-F238E27FC236}">
                <a16:creationId xmlns:a16="http://schemas.microsoft.com/office/drawing/2014/main" id="{89F93BA3-04D8-4224-9B63-EE484056BEEC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Задание 1. Запуск контейнера (10 минут)</a:t>
            </a:r>
          </a:p>
        </p:txBody>
      </p:sp>
      <p:sp>
        <p:nvSpPr>
          <p:cNvPr id="2" name="1) Запустить nginx и открыть страницу в браузере.">
            <a:extLst>
              <a:ext uri="{FF2B5EF4-FFF2-40B4-BE49-F238E27FC236}">
                <a16:creationId xmlns:a16="http://schemas.microsoft.com/office/drawing/2014/main" id="{C4FEF041-780B-4D5F-A27F-E763E31025C4}"/>
              </a:ext>
            </a:extLst>
          </p:cNvPr>
          <p:cNvSpPr>
            <a:spLocks noGrp="1"/>
          </p:cNvSpPr>
          <p:nvPr/>
        </p:nvSpPr>
        <p:spPr>
          <a:xfrm>
            <a:off x="828675" y="1685925"/>
            <a:ext cx="72390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1) Запустить nginx и открыть страницу в браузере.</a:t>
            </a:r>
          </a:p>
        </p:txBody>
      </p:sp>
      <p:sp>
        <p:nvSpPr>
          <p:cNvPr id="3" name="2) Посмотреть статус, логи и конфигурацию nginx.">
            <a:extLst>
              <a:ext uri="{FF2B5EF4-FFF2-40B4-BE49-F238E27FC236}">
                <a16:creationId xmlns:a16="http://schemas.microsoft.com/office/drawing/2014/main" id="{6C9AF7C4-84B5-464D-AB61-89EEC700E354}"/>
              </a:ext>
            </a:extLst>
          </p:cNvPr>
          <p:cNvSpPr>
            <a:spLocks noGrp="1"/>
          </p:cNvSpPr>
          <p:nvPr/>
        </p:nvSpPr>
        <p:spPr>
          <a:xfrm>
            <a:off x="828675" y="2543175"/>
            <a:ext cx="72390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2) Посмотреть статус, логи и конфигурацию nginx.</a:t>
            </a:r>
          </a:p>
        </p:txBody>
      </p:sp>
      <p:sp>
        <p:nvSpPr>
          <p:cNvPr id="4" name="3) Остановить контейнер и найти его через docker p">
            <a:extLst>
              <a:ext uri="{FF2B5EF4-FFF2-40B4-BE49-F238E27FC236}">
                <a16:creationId xmlns:a16="http://schemas.microsoft.com/office/drawing/2014/main" id="{71FDA962-35A5-47CB-84C2-404C109031D9}"/>
              </a:ext>
            </a:extLst>
          </p:cNvPr>
          <p:cNvSpPr>
            <a:spLocks noGrp="1"/>
          </p:cNvSpPr>
          <p:nvPr/>
        </p:nvSpPr>
        <p:spPr>
          <a:xfrm>
            <a:off x="828675" y="3400425"/>
            <a:ext cx="72390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3) Остановить контейнер и найти его через docker ps -a.</a:t>
            </a:r>
          </a:p>
        </p:txBody>
      </p:sp>
      <p:sp>
        <p:nvSpPr>
          <p:cNvPr id="5" name="4) Удалить контейнер. Проверить, остался ли образ.">
            <a:extLst>
              <a:ext uri="{FF2B5EF4-FFF2-40B4-BE49-F238E27FC236}">
                <a16:creationId xmlns:a16="http://schemas.microsoft.com/office/drawing/2014/main" id="{7B868EE7-C8F2-4ABF-9306-C02745BD4A18}"/>
              </a:ext>
            </a:extLst>
          </p:cNvPr>
          <p:cNvSpPr>
            <a:spLocks noGrp="1"/>
          </p:cNvSpPr>
          <p:nvPr/>
        </p:nvSpPr>
        <p:spPr>
          <a:xfrm>
            <a:off x="828675" y="4257675"/>
            <a:ext cx="72390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4) Удалить контейнер. Проверить, остался ли образ.</a:t>
            </a:r>
          </a:p>
        </p:txBody>
      </p:sp>
      <p:sp>
        <p:nvSpPr>
          <p:cNvPr id="6" name="hints">
            <a:extLst>
              <a:ext uri="{FF2B5EF4-FFF2-40B4-BE49-F238E27FC236}">
                <a16:creationId xmlns:a16="http://schemas.microsoft.com/office/drawing/2014/main" id="{9BE1440A-B523-4F4A-BA86-ADDE618DB7D8}"/>
              </a:ext>
            </a:extLst>
          </p:cNvPr>
          <p:cNvSpPr>
            <a:spLocks noGrp="1"/>
          </p:cNvSpPr>
          <p:nvPr/>
        </p:nvSpPr>
        <p:spPr>
          <a:xfrm>
            <a:off x="8534400" y="1581150"/>
            <a:ext cx="2857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hints</a:t>
            </a:r>
          </a:p>
        </p:txBody>
      </p:sp>
      <p:sp>
        <p:nvSpPr>
          <p:cNvPr id="7" name="docker run&#10;docker ps -a&#10;docker logs&#10;docker exec&#10;do">
            <a:extLst>
              <a:ext uri="{FF2B5EF4-FFF2-40B4-BE49-F238E27FC236}">
                <a16:creationId xmlns:a16="http://schemas.microsoft.com/office/drawing/2014/main" id="{D7214FD8-6BE0-4A49-AEA5-56660F038D70}"/>
              </a:ext>
            </a:extLst>
          </p:cNvPr>
          <p:cNvSpPr>
            <a:spLocks noGrp="1"/>
          </p:cNvSpPr>
          <p:nvPr/>
        </p:nvSpPr>
        <p:spPr>
          <a:xfrm>
            <a:off x="8534400" y="2324100"/>
            <a:ext cx="2905125" cy="3543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run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ps -a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logs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exec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images</a:t>
            </a:r>
          </a:p>
        </p:txBody>
      </p:sp>
      <p:sp>
        <p:nvSpPr>
          <p:cNvPr id="8" name="Готово: объясняете разницу между образом и контейн">
            <a:extLst>
              <a:ext uri="{FF2B5EF4-FFF2-40B4-BE49-F238E27FC236}">
                <a16:creationId xmlns:a16="http://schemas.microsoft.com/office/drawing/2014/main" id="{DE6B4BA7-4B43-40DB-9B55-FABE18F8F83B}"/>
              </a:ext>
            </a:extLst>
          </p:cNvPr>
          <p:cNvSpPr>
            <a:spLocks noGrp="1"/>
          </p:cNvSpPr>
          <p:nvPr/>
        </p:nvSpPr>
        <p:spPr>
          <a:xfrm>
            <a:off x="828675" y="5762625"/>
            <a:ext cx="104775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Готово: объясняете разницу между образом и контейнером</a:t>
            </a:r>
          </a:p>
        </p:txBody>
      </p:sp>
    </p:spTree>
    <p:extLst>
      <p:ext uri="{BB962C8B-B14F-4D97-AF65-F5344CB8AC3E}">
        <p14:creationId xmlns:p14="http://schemas.microsoft.com/office/powerpoint/2010/main" val="676774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1EEA9E5-017C-495A-B171-8C202BF10CD7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Dockerfile: сборка и запуск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018DB7-8CBE-49FC-9551-53E3FB39634B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619625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263A77-AD08-4A2E-9F37-EE74ED32D630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Python и рабочий каталог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A93EEB-25CE-4497-B555-CB3E3449E8CA}"/>
              </a:ext>
            </a:extLst>
          </p:cNvPr>
          <p:cNvSpPr>
            <a:spLocks noGrp="1"/>
          </p:cNvSpPr>
          <p:nvPr/>
        </p:nvSpPr>
        <p:spPr>
          <a:xfrm>
            <a:off x="1057275" y="1966913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FROM python:3.12-slim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F13810-C270-4D06-9D83-04AB27297719}"/>
              </a:ext>
            </a:extLst>
          </p:cNvPr>
          <p:cNvSpPr>
            <a:spLocks noGrp="1"/>
          </p:cNvSpPr>
          <p:nvPr/>
        </p:nvSpPr>
        <p:spPr>
          <a:xfrm>
            <a:off x="1057275" y="2238375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WORKDIR /app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BA5EA7-0E60-4A45-B70A-C4FB9926FDCB}"/>
              </a:ext>
            </a:extLst>
          </p:cNvPr>
          <p:cNvSpPr>
            <a:spLocks noGrp="1"/>
          </p:cNvSpPr>
          <p:nvPr/>
        </p:nvSpPr>
        <p:spPr>
          <a:xfrm>
            <a:off x="1057275" y="2509838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ENV PYTHONDONTWRITEBYTECODE=1 PYTHONUNBUFFERED=1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F22DDA-C9C4-4FE3-A017-48CCCDBFA1D9}"/>
              </a:ext>
            </a:extLst>
          </p:cNvPr>
          <p:cNvSpPr>
            <a:spLocks noGrp="1"/>
          </p:cNvSpPr>
          <p:nvPr/>
        </p:nvSpPr>
        <p:spPr>
          <a:xfrm>
            <a:off x="1057275" y="2781300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Сначала зависимости: сохраняем кэш их установки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38E5D2-B1AC-4F5D-BA5C-0A73E5CB8DB7}"/>
              </a:ext>
            </a:extLst>
          </p:cNvPr>
          <p:cNvSpPr>
            <a:spLocks noGrp="1"/>
          </p:cNvSpPr>
          <p:nvPr/>
        </p:nvSpPr>
        <p:spPr>
          <a:xfrm>
            <a:off x="1057275" y="3052763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COPY requirements.txt 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0336A4-06E7-44A9-8E0F-18DE737DD6C2}"/>
              </a:ext>
            </a:extLst>
          </p:cNvPr>
          <p:cNvSpPr>
            <a:spLocks noGrp="1"/>
          </p:cNvSpPr>
          <p:nvPr/>
        </p:nvSpPr>
        <p:spPr>
          <a:xfrm>
            <a:off x="1057275" y="3324225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RUN pip install --no-cache-dir -r requirements.txt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C7AACD-D45E-4696-BFF5-41BF4A7E809A}"/>
              </a:ext>
            </a:extLst>
          </p:cNvPr>
          <p:cNvSpPr>
            <a:spLocks noGrp="1"/>
          </p:cNvSpPr>
          <p:nvPr/>
        </p:nvSpPr>
        <p:spPr>
          <a:xfrm>
            <a:off x="1057275" y="3595688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Файлы и процесс приложения принадлежат UID 10001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B368C1-CA6E-4AAD-AF68-D777C911D7F7}"/>
              </a:ext>
            </a:extLst>
          </p:cNvPr>
          <p:cNvSpPr>
            <a:spLocks noGrp="1"/>
          </p:cNvSpPr>
          <p:nvPr/>
        </p:nvSpPr>
        <p:spPr>
          <a:xfrm>
            <a:off x="1057275" y="3867150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RUN useradd --uid 10001 --create-home appuser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CB53CC-39E5-45C8-A480-1A3A974859AD}"/>
              </a:ext>
            </a:extLst>
          </p:cNvPr>
          <p:cNvSpPr>
            <a:spLocks noGrp="1"/>
          </p:cNvSpPr>
          <p:nvPr/>
        </p:nvSpPr>
        <p:spPr>
          <a:xfrm>
            <a:off x="1057275" y="4138613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COPY --chown=10001:10001 app.py 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1AC11D-27DB-4AA4-AED6-DBA841A44BFD}"/>
              </a:ext>
            </a:extLst>
          </p:cNvPr>
          <p:cNvSpPr>
            <a:spLocks noGrp="1"/>
          </p:cNvSpPr>
          <p:nvPr/>
        </p:nvSpPr>
        <p:spPr>
          <a:xfrm>
            <a:off x="1057275" y="4410075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USER 10001:10001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D6EDBB-ABCB-48DB-8738-CAAF7E6E40A6}"/>
              </a:ext>
            </a:extLst>
          </p:cNvPr>
          <p:cNvSpPr>
            <a:spLocks noGrp="1"/>
          </p:cNvSpPr>
          <p:nvPr/>
        </p:nvSpPr>
        <p:spPr>
          <a:xfrm>
            <a:off x="1057275" y="4681538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EXPOSE описывает порт, но не публикует его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D041CD-2E4F-4839-92C8-5005173723DA}"/>
              </a:ext>
            </a:extLst>
          </p:cNvPr>
          <p:cNvSpPr>
            <a:spLocks noGrp="1"/>
          </p:cNvSpPr>
          <p:nvPr/>
        </p:nvSpPr>
        <p:spPr>
          <a:xfrm>
            <a:off x="1057275" y="4953000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EXPOSE 8080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7F4A48-7E58-46AE-A64C-AA0E6FFC9C74}"/>
              </a:ext>
            </a:extLst>
          </p:cNvPr>
          <p:cNvSpPr>
            <a:spLocks noGrp="1"/>
          </p:cNvSpPr>
          <p:nvPr/>
        </p:nvSpPr>
        <p:spPr>
          <a:xfrm>
            <a:off x="1057275" y="5224463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Exec-форма для корректной доставки сигналов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EFC48D-5D06-4974-B76F-F54336399F3F}"/>
              </a:ext>
            </a:extLst>
          </p:cNvPr>
          <p:cNvSpPr>
            <a:spLocks noGrp="1"/>
          </p:cNvSpPr>
          <p:nvPr/>
        </p:nvSpPr>
        <p:spPr>
          <a:xfrm>
            <a:off x="1057275" y="5495925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CMD ["python", "app.py"]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73B-B781-458B-B859-83F7AE0F4601}"/>
              </a:ext>
            </a:extLst>
          </p:cNvPr>
          <p:cNvSpPr>
            <a:spLocks noGrp="1"/>
          </p:cNvSpPr>
          <p:nvPr/>
        </p:nvSpPr>
        <p:spPr>
          <a:xfrm>
            <a:off x="828675" y="62865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Полный пример: app/Dockerfile. Приложение и зависимости рядом.</a:t>
            </a:r>
          </a:p>
        </p:txBody>
      </p:sp>
    </p:spTree>
    <p:extLst>
      <p:ext uri="{BB962C8B-B14F-4D97-AF65-F5344CB8AC3E}">
        <p14:creationId xmlns:p14="http://schemas.microsoft.com/office/powerpoint/2010/main" val="18616982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88E953-C3C7-451C-B9E8-EF15CA290663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Задание 2. Сборка образа (15 минут)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04A132-ACA2-4D08-8C86-E30515BA7AFB}"/>
              </a:ext>
            </a:extLst>
          </p:cNvPr>
          <p:cNvSpPr>
            <a:spLocks noGrp="1"/>
          </p:cNvSpPr>
          <p:nvPr/>
        </p:nvSpPr>
        <p:spPr>
          <a:xfrm>
            <a:off x="828675" y="1724025"/>
            <a:ext cx="76200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1) Открыть каталог app/ из репозитория занятия.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A70FE-4A99-45AC-B806-F785444F504D}"/>
              </a:ext>
            </a:extLst>
          </p:cNvPr>
          <p:cNvSpPr>
            <a:spLocks noGrp="1"/>
          </p:cNvSpPr>
          <p:nvPr/>
        </p:nvSpPr>
        <p:spPr>
          <a:xfrm>
            <a:off x="828675" y="2486025"/>
            <a:ext cx="76200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2) Разобрать Dockerfile и собрать club-demo:1.0.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0A2838-6EDB-4737-BC26-31D2DBBF554C}"/>
              </a:ext>
            </a:extLst>
          </p:cNvPr>
          <p:cNvSpPr>
            <a:spLocks noGrp="1"/>
          </p:cNvSpPr>
          <p:nvPr/>
        </p:nvSpPr>
        <p:spPr>
          <a:xfrm>
            <a:off x="828675" y="3248025"/>
            <a:ext cx="76200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3) Запустить образ на localhost:8080 и проверить /health.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65B7F3-9FB6-409F-AF3A-AD5D4D6EE511}"/>
              </a:ext>
            </a:extLst>
          </p:cNvPr>
          <p:cNvSpPr>
            <a:spLocks noGrp="1"/>
          </p:cNvSpPr>
          <p:nvPr/>
        </p:nvSpPr>
        <p:spPr>
          <a:xfrm>
            <a:off x="828675" y="4010025"/>
            <a:ext cx="76200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4) Проверить UID процесса через команду id.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C095BB-665D-44A0-A802-3553ED8AD198}"/>
              </a:ext>
            </a:extLst>
          </p:cNvPr>
          <p:cNvSpPr>
            <a:spLocks noGrp="1"/>
          </p:cNvSpPr>
          <p:nvPr/>
        </p:nvSpPr>
        <p:spPr>
          <a:xfrm>
            <a:off x="828675" y="4772025"/>
            <a:ext cx="76200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5) Изменить app.py и посмотреть, какие шаги используют кэш.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BDE7AB-AA3B-47D0-BEB7-D9120B671289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hints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89797-6D83-4BC0-912E-98CC1934FAD2}"/>
              </a:ext>
            </a:extLst>
          </p:cNvPr>
          <p:cNvSpPr>
            <a:spLocks noGrp="1"/>
          </p:cNvSpPr>
          <p:nvPr/>
        </p:nvSpPr>
        <p:spPr>
          <a:xfrm>
            <a:off x="8972550" y="2419350"/>
            <a:ext cx="2381250" cy="2381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build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run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history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curl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62F648-02AC-490F-89B0-AA9A426B16B7}"/>
              </a:ext>
            </a:extLst>
          </p:cNvPr>
          <p:cNvSpPr>
            <a:spLocks noGrp="1"/>
          </p:cNvSpPr>
          <p:nvPr/>
        </p:nvSpPr>
        <p:spPr>
          <a:xfrm>
            <a:off x="828675" y="5895975"/>
            <a:ext cx="10525125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Готово: HTTP-сервис отвечает, процесс работает с UID 10001</a:t>
            </a:r>
          </a:p>
        </p:txBody>
      </p:sp>
    </p:spTree>
    <p:extLst>
      <p:ext uri="{BB962C8B-B14F-4D97-AF65-F5344CB8AC3E}">
        <p14:creationId xmlns:p14="http://schemas.microsoft.com/office/powerpoint/2010/main" val="60828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4884E7D-A76D-4E8A-9B51-67B4B493478A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3. Compose: сервис web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6DEBA3-63C8-404E-8109-F2C39D201331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619625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A96582-8D2C-4FFB-8C17-7376A3689793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services: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CD4DCE-D4D5-41B4-85B2-A17C479A914F}"/>
              </a:ext>
            </a:extLst>
          </p:cNvPr>
          <p:cNvSpPr>
            <a:spLocks noGrp="1"/>
          </p:cNvSpPr>
          <p:nvPr/>
        </p:nvSpPr>
        <p:spPr>
          <a:xfrm>
            <a:off x="1057275" y="1966913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web: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EB9091-F818-44E9-9186-13124CB049A0}"/>
              </a:ext>
            </a:extLst>
          </p:cNvPr>
          <p:cNvSpPr>
            <a:spLocks noGrp="1"/>
          </p:cNvSpPr>
          <p:nvPr/>
        </p:nvSpPr>
        <p:spPr>
          <a:xfrm>
            <a:off x="1057275" y="2238375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    # Сборка из Dockerfile и имя готового образа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9DC918-294D-4F8B-8564-BBB11859394B}"/>
              </a:ext>
            </a:extLst>
          </p:cNvPr>
          <p:cNvSpPr>
            <a:spLocks noGrp="1"/>
          </p:cNvSpPr>
          <p:nvPr/>
        </p:nvSpPr>
        <p:spPr>
          <a:xfrm>
            <a:off x="1057275" y="2509838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build: 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12CD6-4337-4F5D-9B36-F69D2508688B}"/>
              </a:ext>
            </a:extLst>
          </p:cNvPr>
          <p:cNvSpPr>
            <a:spLocks noGrp="1"/>
          </p:cNvSpPr>
          <p:nvPr/>
        </p:nvSpPr>
        <p:spPr>
          <a:xfrm>
            <a:off x="1057275" y="2781300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image: club-demo:1.0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ADCA7B-5501-4EBB-BCE1-FF1B7FA635C8}"/>
              </a:ext>
            </a:extLst>
          </p:cNvPr>
          <p:cNvSpPr>
            <a:spLocks noGrp="1"/>
          </p:cNvSpPr>
          <p:nvPr/>
        </p:nvSpPr>
        <p:spPr>
          <a:xfrm>
            <a:off x="1057275" y="3052763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ports: ["127.0.0.1:8080:8080"]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9FE9FD-B495-4A49-B4C4-ABEA0364C869}"/>
              </a:ext>
            </a:extLst>
          </p:cNvPr>
          <p:cNvSpPr>
            <a:spLocks noGrp="1"/>
          </p:cNvSpPr>
          <p:nvPr/>
        </p:nvSpPr>
        <p:spPr>
          <a:xfrm>
            <a:off x="1057275" y="3324225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environment: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9ED1EB-8454-48D8-9A99-1746BCF4C136}"/>
              </a:ext>
            </a:extLst>
          </p:cNvPr>
          <p:cNvSpPr>
            <a:spLocks noGrp="1"/>
          </p:cNvSpPr>
          <p:nvPr/>
        </p:nvSpPr>
        <p:spPr>
          <a:xfrm>
            <a:off x="1057275" y="3595688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      # Имя Redis в общей сети Compose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92D999-B84D-498F-A1BC-E89565AD5C59}"/>
              </a:ext>
            </a:extLst>
          </p:cNvPr>
          <p:cNvSpPr>
            <a:spLocks noGrp="1"/>
          </p:cNvSpPr>
          <p:nvPr/>
        </p:nvSpPr>
        <p:spPr>
          <a:xfrm>
            <a:off x="1057275" y="3867150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  REDIS_HOST: redis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F582E0-7E25-4692-9B7D-2B1591AD64C2}"/>
              </a:ext>
            </a:extLst>
          </p:cNvPr>
          <p:cNvSpPr>
            <a:spLocks noGrp="1"/>
          </p:cNvSpPr>
          <p:nvPr/>
        </p:nvSpPr>
        <p:spPr>
          <a:xfrm>
            <a:off x="1057275" y="4138613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depends_on: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A858EE-8385-43DD-A8D6-330DA0335077}"/>
              </a:ext>
            </a:extLst>
          </p:cNvPr>
          <p:cNvSpPr>
            <a:spLocks noGrp="1"/>
          </p:cNvSpPr>
          <p:nvPr/>
        </p:nvSpPr>
        <p:spPr>
          <a:xfrm>
            <a:off x="1057275" y="4410075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  redis: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258C7B-08E5-4C0B-8FBB-E0F8A22E85AD}"/>
              </a:ext>
            </a:extLst>
          </p:cNvPr>
          <p:cNvSpPr>
            <a:spLocks noGrp="1"/>
          </p:cNvSpPr>
          <p:nvPr/>
        </p:nvSpPr>
        <p:spPr>
          <a:xfrm>
            <a:off x="1057275" y="4681538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    condition: service_healthy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FDD9AF-9933-4E9D-8893-74A44642315D}"/>
              </a:ext>
            </a:extLst>
          </p:cNvPr>
          <p:cNvSpPr>
            <a:spLocks noGrp="1"/>
          </p:cNvSpPr>
          <p:nvPr/>
        </p:nvSpPr>
        <p:spPr>
          <a:xfrm>
            <a:off x="1057275" y="4953000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    # Процесс без записи в корневую ФС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D91BA7-262E-4F72-8F83-DC949412788A}"/>
              </a:ext>
            </a:extLst>
          </p:cNvPr>
          <p:cNvSpPr>
            <a:spLocks noGrp="1"/>
          </p:cNvSpPr>
          <p:nvPr/>
        </p:nvSpPr>
        <p:spPr>
          <a:xfrm>
            <a:off x="1057275" y="5224463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read_only: true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8FFDA7E-3F5B-433F-B530-3975FB7EA1A4}"/>
              </a:ext>
            </a:extLst>
          </p:cNvPr>
          <p:cNvSpPr>
            <a:spLocks noGrp="1"/>
          </p:cNvSpPr>
          <p:nvPr/>
        </p:nvSpPr>
        <p:spPr>
          <a:xfrm>
            <a:off x="1057275" y="5495925"/>
            <a:ext cx="10096500" cy="300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65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tmpfs: ["/tmp"]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7249DC-8CFF-41F4-AB4D-698E6FAAE6F9}"/>
              </a:ext>
            </a:extLst>
          </p:cNvPr>
          <p:cNvSpPr>
            <a:spLocks noGrp="1"/>
          </p:cNvSpPr>
          <p:nvPr/>
        </p:nvSpPr>
        <p:spPr>
          <a:xfrm>
            <a:off x="828675" y="62865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Полный файл уже лежит в app/compose.yaml. Следующий слайд: Redis.</a:t>
            </a:r>
          </a:p>
        </p:txBody>
      </p:sp>
    </p:spTree>
    <p:extLst>
      <p:ext uri="{BB962C8B-B14F-4D97-AF65-F5344CB8AC3E}">
        <p14:creationId xmlns:p14="http://schemas.microsoft.com/office/powerpoint/2010/main" val="2089615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E5B518D-E184-4958-A554-091D14F78D7E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Compose: Redis и постоянные данные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0E50F4-5406-40E9-9CEC-3A7D09929E1A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524375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6A01D8-5026-42B0-B2A8-7DCEE71411F8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redis: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324AE-2BA3-46E6-96B7-DCF9F02E7274}"/>
              </a:ext>
            </a:extLst>
          </p:cNvPr>
          <p:cNvSpPr>
            <a:spLocks noGrp="1"/>
          </p:cNvSpPr>
          <p:nvPr/>
        </p:nvSpPr>
        <p:spPr>
          <a:xfrm>
            <a:off x="1057275" y="199072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image: redis:7.4-alpine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87BB0C-1FB2-43CA-9926-FC3F0F51F5F8}"/>
              </a:ext>
            </a:extLst>
          </p:cNvPr>
          <p:cNvSpPr>
            <a:spLocks noGrp="1"/>
          </p:cNvSpPr>
          <p:nvPr/>
        </p:nvSpPr>
        <p:spPr>
          <a:xfrm>
            <a:off x="1057275" y="228600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    # Сохраняем счётчик в append-only file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1D965-5A19-41DE-A9A6-4BF8F0E99A21}"/>
              </a:ext>
            </a:extLst>
          </p:cNvPr>
          <p:cNvSpPr>
            <a:spLocks noGrp="1"/>
          </p:cNvSpPr>
          <p:nvPr/>
        </p:nvSpPr>
        <p:spPr>
          <a:xfrm>
            <a:off x="1057275" y="258127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command: ["redis-server", "--appendonly", "yes"]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825E36-5A5A-465F-8F95-5F4E7BF53C0A}"/>
              </a:ext>
            </a:extLst>
          </p:cNvPr>
          <p:cNvSpPr>
            <a:spLocks noGrp="1"/>
          </p:cNvSpPr>
          <p:nvPr/>
        </p:nvSpPr>
        <p:spPr>
          <a:xfrm>
            <a:off x="1057275" y="287655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volumes: ["redis-data:/data"]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714724-D7CF-45F5-8544-08C191A813F2}"/>
              </a:ext>
            </a:extLst>
          </p:cNvPr>
          <p:cNvSpPr>
            <a:spLocks noGrp="1"/>
          </p:cNvSpPr>
          <p:nvPr/>
        </p:nvSpPr>
        <p:spPr>
          <a:xfrm>
            <a:off x="1057275" y="317182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healthcheck: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C7A3B9-259E-4AC7-BDA8-399044B1D4F3}"/>
              </a:ext>
            </a:extLst>
          </p:cNvPr>
          <p:cNvSpPr>
            <a:spLocks noGrp="1"/>
          </p:cNvSpPr>
          <p:nvPr/>
        </p:nvSpPr>
        <p:spPr>
          <a:xfrm>
            <a:off x="1057275" y="346710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  test: ["CMD", "redis-cli", "ping"]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5590E6-8DFA-4F14-9868-60F3A25A136B}"/>
              </a:ext>
            </a:extLst>
          </p:cNvPr>
          <p:cNvSpPr>
            <a:spLocks noGrp="1"/>
          </p:cNvSpPr>
          <p:nvPr/>
        </p:nvSpPr>
        <p:spPr>
          <a:xfrm>
            <a:off x="1057275" y="376237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  interval: 5s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F21CF1-5051-4C95-A158-1D0F0026627C}"/>
              </a:ext>
            </a:extLst>
          </p:cNvPr>
          <p:cNvSpPr>
            <a:spLocks noGrp="1"/>
          </p:cNvSpPr>
          <p:nvPr/>
        </p:nvSpPr>
        <p:spPr>
          <a:xfrm>
            <a:off x="1057275" y="405765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  timeout: 3s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3FE0F2-2E9E-48DD-8512-0D73745E948D}"/>
              </a:ext>
            </a:extLst>
          </p:cNvPr>
          <p:cNvSpPr>
            <a:spLocks noGrp="1"/>
          </p:cNvSpPr>
          <p:nvPr/>
        </p:nvSpPr>
        <p:spPr>
          <a:xfrm>
            <a:off x="1057275" y="435292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  retries: 10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478F28-3357-40BB-80A7-26F323E74A6F}"/>
              </a:ext>
            </a:extLst>
          </p:cNvPr>
          <p:cNvSpPr>
            <a:spLocks noGrp="1"/>
          </p:cNvSpPr>
          <p:nvPr/>
        </p:nvSpPr>
        <p:spPr>
          <a:xfrm>
            <a:off x="1057275" y="464820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volumes: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B72912-3833-4C68-88E3-373EF85D6C27}"/>
              </a:ext>
            </a:extLst>
          </p:cNvPr>
          <p:cNvSpPr>
            <a:spLocks noGrp="1"/>
          </p:cNvSpPr>
          <p:nvPr/>
        </p:nvSpPr>
        <p:spPr>
          <a:xfrm>
            <a:off x="1057275" y="494347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  # Volume сохраняется после обычного down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5CAA4B-FFFE-4804-9967-825D29DCADE3}"/>
              </a:ext>
            </a:extLst>
          </p:cNvPr>
          <p:cNvSpPr>
            <a:spLocks noGrp="1"/>
          </p:cNvSpPr>
          <p:nvPr/>
        </p:nvSpPr>
        <p:spPr>
          <a:xfrm>
            <a:off x="1057275" y="523875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redis-data: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17BD23-BD7D-45E1-BBB4-139AC9AE411D}"/>
              </a:ext>
            </a:extLst>
          </p:cNvPr>
          <p:cNvSpPr>
            <a:spLocks noGrp="1"/>
          </p:cNvSpPr>
          <p:nvPr/>
        </p:nvSpPr>
        <p:spPr>
          <a:xfrm>
            <a:off x="828675" y="6191250"/>
            <a:ext cx="10572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Сеть Compose создаётся автоматически. Версия файла version не нужна.</a:t>
            </a:r>
          </a:p>
        </p:txBody>
      </p:sp>
    </p:spTree>
    <p:extLst>
      <p:ext uri="{BB962C8B-B14F-4D97-AF65-F5344CB8AC3E}">
        <p14:creationId xmlns:p14="http://schemas.microsoft.com/office/powerpoint/2010/main" val="17789673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212AA80-622B-4D54-8B0B-A2467E229061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Запуск, диагностика и остановка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F78850-34A8-4074-A43E-D056999105DD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429125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D09F67-F048-4B9B-8F5C-3E63232EF54D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Работаем в каталоге app/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CD168A-A65C-4F48-9771-E17E70A227A8}"/>
              </a:ext>
            </a:extLst>
          </p:cNvPr>
          <p:cNvSpPr>
            <a:spLocks noGrp="1"/>
          </p:cNvSpPr>
          <p:nvPr/>
        </p:nvSpPr>
        <p:spPr>
          <a:xfrm>
            <a:off x="1057275" y="2000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compose config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09D4A6-46BA-45C1-B57A-9746981C88AA}"/>
              </a:ext>
            </a:extLst>
          </p:cNvPr>
          <p:cNvSpPr>
            <a:spLocks noGrp="1"/>
          </p:cNvSpPr>
          <p:nvPr/>
        </p:nvSpPr>
        <p:spPr>
          <a:xfrm>
            <a:off x="1057275" y="23050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compose up -d --build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A541FE-6D9D-416E-AE0F-A2A79B4E0482}"/>
              </a:ext>
            </a:extLst>
          </p:cNvPr>
          <p:cNvSpPr>
            <a:spLocks noGrp="1"/>
          </p:cNvSpPr>
          <p:nvPr/>
        </p:nvSpPr>
        <p:spPr>
          <a:xfrm>
            <a:off x="1057275" y="26098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curl http://localhost:8080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CFB547-61DD-4979-870D-3E0C597ADF90}"/>
              </a:ext>
            </a:extLst>
          </p:cNvPr>
          <p:cNvSpPr>
            <a:spLocks noGrp="1"/>
          </p:cNvSpPr>
          <p:nvPr/>
        </p:nvSpPr>
        <p:spPr>
          <a:xfrm>
            <a:off x="1057275" y="29146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8FF5E6-0CEF-4AF1-99EB-A8689E2FA895}"/>
              </a:ext>
            </a:extLst>
          </p:cNvPr>
          <p:cNvSpPr>
            <a:spLocks noGrp="1"/>
          </p:cNvSpPr>
          <p:nvPr/>
        </p:nvSpPr>
        <p:spPr>
          <a:xfrm>
            <a:off x="1057275" y="3219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Проверяем сервисы и данные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189732-7028-4D33-8BD5-B94A023F51D3}"/>
              </a:ext>
            </a:extLst>
          </p:cNvPr>
          <p:cNvSpPr>
            <a:spLocks noGrp="1"/>
          </p:cNvSpPr>
          <p:nvPr/>
        </p:nvSpPr>
        <p:spPr>
          <a:xfrm>
            <a:off x="1057275" y="3524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compose 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38D50D-8A3D-4A89-A123-2891DF6AAD02}"/>
              </a:ext>
            </a:extLst>
          </p:cNvPr>
          <p:cNvSpPr>
            <a:spLocks noGrp="1"/>
          </p:cNvSpPr>
          <p:nvPr/>
        </p:nvSpPr>
        <p:spPr>
          <a:xfrm>
            <a:off x="1057275" y="38290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compose exec redis redis-cli GET visits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0FC521-0677-46C4-B603-18910811BC2B}"/>
              </a:ext>
            </a:extLst>
          </p:cNvPr>
          <p:cNvSpPr>
            <a:spLocks noGrp="1"/>
          </p:cNvSpPr>
          <p:nvPr/>
        </p:nvSpPr>
        <p:spPr>
          <a:xfrm>
            <a:off x="1057275" y="41338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DC640B-A1F5-4E01-909F-D5EB41D28609}"/>
              </a:ext>
            </a:extLst>
          </p:cNvPr>
          <p:cNvSpPr>
            <a:spLocks noGrp="1"/>
          </p:cNvSpPr>
          <p:nvPr/>
        </p:nvSpPr>
        <p:spPr>
          <a:xfrm>
            <a:off x="1057275" y="44386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Пересоздаём контейнеры, сохраняя volume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F0A573-08CC-4069-9A22-19480DFD6AB6}"/>
              </a:ext>
            </a:extLst>
          </p:cNvPr>
          <p:cNvSpPr>
            <a:spLocks noGrp="1"/>
          </p:cNvSpPr>
          <p:nvPr/>
        </p:nvSpPr>
        <p:spPr>
          <a:xfrm>
            <a:off x="1057275" y="4743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compose down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630E7-066A-4B85-9DAC-240D4706B9B8}"/>
              </a:ext>
            </a:extLst>
          </p:cNvPr>
          <p:cNvSpPr>
            <a:spLocks noGrp="1"/>
          </p:cNvSpPr>
          <p:nvPr/>
        </p:nvSpPr>
        <p:spPr>
          <a:xfrm>
            <a:off x="1057275" y="5048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compose up -d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F6F61F-85DA-4222-8112-8BD5A196F363}"/>
              </a:ext>
            </a:extLst>
          </p:cNvPr>
          <p:cNvSpPr>
            <a:spLocks noGrp="1"/>
          </p:cNvSpPr>
          <p:nvPr/>
        </p:nvSpPr>
        <p:spPr>
          <a:xfrm>
            <a:off x="828675" y="61912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Для приложения down -v удалит volume и счётчик.</a:t>
            </a:r>
          </a:p>
        </p:txBody>
      </p:sp>
    </p:spTree>
    <p:extLst>
      <p:ext uri="{BB962C8B-B14F-4D97-AF65-F5344CB8AC3E}">
        <p14:creationId xmlns:p14="http://schemas.microsoft.com/office/powerpoint/2010/main" val="1454897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FF0016B-914D-4FDE-B098-E25C575B5660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Задание 3. Compose (15 минут)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2472F8-FB6E-4CA5-8889-AC9BE4E536F6}"/>
              </a:ext>
            </a:extLst>
          </p:cNvPr>
          <p:cNvSpPr>
            <a:spLocks noGrp="1"/>
          </p:cNvSpPr>
          <p:nvPr/>
        </p:nvSpPr>
        <p:spPr>
          <a:xfrm>
            <a:off x="828675" y="1724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1) Открыть готовый app/compose.yaml и разобрать настройки.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BEBD07-188F-4580-BADF-DBBE872CBB64}"/>
              </a:ext>
            </a:extLst>
          </p:cNvPr>
          <p:cNvSpPr>
            <a:spLocks noGrp="1"/>
          </p:cNvSpPr>
          <p:nvPr/>
        </p:nvSpPr>
        <p:spPr>
          <a:xfrm>
            <a:off x="828675" y="2486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2) Остановить отдельный контейнер из задания 2.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1BF21-0D2B-4714-9927-BA76DF9D06D5}"/>
              </a:ext>
            </a:extLst>
          </p:cNvPr>
          <p:cNvSpPr>
            <a:spLocks noGrp="1"/>
          </p:cNvSpPr>
          <p:nvPr/>
        </p:nvSpPr>
        <p:spPr>
          <a:xfrm>
            <a:off x="828675" y="3248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3) Запустить стек и открыть localhost:8080 несколько раз.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EC538F-7275-4139-A780-79910ADE9F1F}"/>
              </a:ext>
            </a:extLst>
          </p:cNvPr>
          <p:cNvSpPr>
            <a:spLocks noGrp="1"/>
          </p:cNvSpPr>
          <p:nvPr/>
        </p:nvSpPr>
        <p:spPr>
          <a:xfrm>
            <a:off x="828675" y="4010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4) Проверить счётчик через redis-cli.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72EF0D-6CBE-4BE1-9983-A5AF0469AD52}"/>
              </a:ext>
            </a:extLst>
          </p:cNvPr>
          <p:cNvSpPr>
            <a:spLocks noGrp="1"/>
          </p:cNvSpPr>
          <p:nvPr/>
        </p:nvSpPr>
        <p:spPr>
          <a:xfrm>
            <a:off x="828675" y="4772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5) Выполнить down, затем up и проверить сохранность данных.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DF51E8-6D66-41FC-9FF8-AD9AEBEA7968}"/>
              </a:ext>
            </a:extLst>
          </p:cNvPr>
          <p:cNvSpPr>
            <a:spLocks noGrp="1"/>
          </p:cNvSpPr>
          <p:nvPr/>
        </p:nvSpPr>
        <p:spPr>
          <a:xfrm>
            <a:off x="9124950" y="1676400"/>
            <a:ext cx="22383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hints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2F77C7-4A48-4781-9221-3272522BC69E}"/>
              </a:ext>
            </a:extLst>
          </p:cNvPr>
          <p:cNvSpPr>
            <a:spLocks noGrp="1"/>
          </p:cNvSpPr>
          <p:nvPr/>
        </p:nvSpPr>
        <p:spPr>
          <a:xfrm>
            <a:off x="9124950" y="2409825"/>
            <a:ext cx="2238375" cy="2952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compose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 config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 up -d --build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 ps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 exec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 down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D3FB61-93C4-431B-9439-E5BCA5B9CEA4}"/>
              </a:ext>
            </a:extLst>
          </p:cNvPr>
          <p:cNvSpPr>
            <a:spLocks noGrp="1"/>
          </p:cNvSpPr>
          <p:nvPr/>
        </p:nvSpPr>
        <p:spPr>
          <a:xfrm>
            <a:off x="828675" y="6010275"/>
            <a:ext cx="10572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Готово: web отвечает, Redis healthy, счётчик сохраняется</a:t>
            </a:r>
          </a:p>
        </p:txBody>
      </p:sp>
    </p:spTree>
    <p:extLst>
      <p:ext uri="{BB962C8B-B14F-4D97-AF65-F5344CB8AC3E}">
        <p14:creationId xmlns:p14="http://schemas.microsoft.com/office/powerpoint/2010/main" val="14062041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4. Harbor: свой registry">
            <a:extLst>
              <a:ext uri="{FF2B5EF4-FFF2-40B4-BE49-F238E27FC236}">
                <a16:creationId xmlns:a16="http://schemas.microsoft.com/office/drawing/2014/main" id="{D5CFAE91-681B-4A96-8824-61D0794D2A88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4. Harbor: свой registry</a:t>
            </a:r>
          </a:p>
        </p:txBody>
      </p:sp>
      <p:sp>
        <p:nvSpPr>
          <p:cNvPr id="2" name="Harbor хранит OCI-образы и другие артефакты в прое">
            <a:extLst>
              <a:ext uri="{FF2B5EF4-FFF2-40B4-BE49-F238E27FC236}">
                <a16:creationId xmlns:a16="http://schemas.microsoft.com/office/drawing/2014/main" id="{84DFA72B-7960-4627-914A-AACE1C713080}"/>
              </a:ext>
            </a:extLst>
          </p:cNvPr>
          <p:cNvSpPr>
            <a:spLocks noGrp="1"/>
          </p:cNvSpPr>
          <p:nvPr/>
        </p:nvSpPr>
        <p:spPr>
          <a:xfrm>
            <a:off x="828675" y="1685925"/>
            <a:ext cx="1042987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Harbor хранит OCI-образы и другие артефакты в проектах.</a:t>
            </a:r>
          </a:p>
        </p:txBody>
      </p:sp>
      <p:sp>
        <p:nvSpPr>
          <p:cNvPr id="3" name="Приватные проекты ограничивают доступ к образам.&#10;R">
            <a:extLst>
              <a:ext uri="{FF2B5EF4-FFF2-40B4-BE49-F238E27FC236}">
                <a16:creationId xmlns:a16="http://schemas.microsoft.com/office/drawing/2014/main" id="{6E39A762-D039-4E18-B46E-53564FE486BE}"/>
              </a:ext>
            </a:extLst>
          </p:cNvPr>
          <p:cNvSpPr>
            <a:spLocks noGrp="1"/>
          </p:cNvSpPr>
          <p:nvPr/>
        </p:nvSpPr>
        <p:spPr>
          <a:xfrm>
            <a:off x="828675" y="2571750"/>
            <a:ext cx="1042987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Приватные проекты ограничивают доступ к образам.</a:t>
            </a:r>
          </a:p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Robot accounts дают автоматизации отдельные права.</a:t>
            </a:r>
          </a:p>
        </p:txBody>
      </p:sp>
      <p:sp>
        <p:nvSpPr>
          <p:cNvPr id="4" name="Trivy анализирует содержимое образа на известные у">
            <a:extLst>
              <a:ext uri="{FF2B5EF4-FFF2-40B4-BE49-F238E27FC236}">
                <a16:creationId xmlns:a16="http://schemas.microsoft.com/office/drawing/2014/main" id="{BD695556-7FB8-4B38-A03A-4F6DB69967B3}"/>
              </a:ext>
            </a:extLst>
          </p:cNvPr>
          <p:cNvSpPr>
            <a:spLocks noGrp="1"/>
          </p:cNvSpPr>
          <p:nvPr/>
        </p:nvSpPr>
        <p:spPr>
          <a:xfrm>
            <a:off x="828675" y="3457575"/>
            <a:ext cx="1042987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Trivy анализирует содержимое образа на известные уязвимости.</a:t>
            </a:r>
          </a:p>
        </p:txBody>
      </p:sp>
      <p:sp>
        <p:nvSpPr>
          <p:cNvPr id="5" name="Квоты и правила retention помогают управлять диско">
            <a:extLst>
              <a:ext uri="{FF2B5EF4-FFF2-40B4-BE49-F238E27FC236}">
                <a16:creationId xmlns:a16="http://schemas.microsoft.com/office/drawing/2014/main" id="{E4836AD7-EC2C-4698-AC04-CF19A3442BC0}"/>
              </a:ext>
            </a:extLst>
          </p:cNvPr>
          <p:cNvSpPr>
            <a:spLocks noGrp="1"/>
          </p:cNvSpPr>
          <p:nvPr/>
        </p:nvSpPr>
        <p:spPr>
          <a:xfrm>
            <a:off x="828675" y="4343400"/>
            <a:ext cx="1042987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Квоты и правила retention помогают управлять диском.</a:t>
            </a:r>
          </a:p>
        </p:txBody>
      </p:sp>
      <p:sp>
        <p:nvSpPr>
          <p:cNvPr id="6" name="Harbor запускается набором готовых образов через C">
            <a:extLst>
              <a:ext uri="{FF2B5EF4-FFF2-40B4-BE49-F238E27FC236}">
                <a16:creationId xmlns:a16="http://schemas.microsoft.com/office/drawing/2014/main" id="{D4273F90-B5E9-436B-B0CA-93A85B6AF028}"/>
              </a:ext>
            </a:extLst>
          </p:cNvPr>
          <p:cNvSpPr>
            <a:spLocks noGrp="1"/>
          </p:cNvSpPr>
          <p:nvPr/>
        </p:nvSpPr>
        <p:spPr>
          <a:xfrm>
            <a:off x="828675" y="5229225"/>
            <a:ext cx="1042987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Harbor запускается набором готовых образов через Compose.</a:t>
            </a:r>
          </a:p>
        </p:txBody>
      </p:sp>
    </p:spTree>
    <p:extLst>
      <p:ext uri="{BB962C8B-B14F-4D97-AF65-F5344CB8AC3E}">
        <p14:creationId xmlns:p14="http://schemas.microsoft.com/office/powerpoint/2010/main" val="1655148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BCFCDF5-5304-49E9-9EB5-B53E302CE5BC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Harbor: локальный запуск через Compose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5BCEB7-0722-4380-8D45-BD06E7AC96F6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448175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7F84F7-C717-416E-8A4E-D7BD87F4B5B8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В репозитории занятия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E0667A-8B98-4BCC-86C7-E623EC745601}"/>
              </a:ext>
            </a:extLst>
          </p:cNvPr>
          <p:cNvSpPr>
            <a:spLocks noGrp="1"/>
          </p:cNvSpPr>
          <p:nvPr/>
        </p:nvSpPr>
        <p:spPr>
          <a:xfrm>
            <a:off x="1057275" y="2000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cd harbor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4E6D0B-A773-48B8-87D1-AB3D2B49BD42}"/>
              </a:ext>
            </a:extLst>
          </p:cNvPr>
          <p:cNvSpPr>
            <a:spLocks noGrp="1"/>
          </p:cNvSpPr>
          <p:nvPr/>
        </p:nvSpPr>
        <p:spPr>
          <a:xfrm>
            <a:off x="1057275" y="23050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F0D3E1-4618-4C1A-895F-5E3553340D36}"/>
              </a:ext>
            </a:extLst>
          </p:cNvPr>
          <p:cNvSpPr>
            <a:spLocks noGrp="1"/>
          </p:cNvSpPr>
          <p:nvPr/>
        </p:nvSpPr>
        <p:spPr>
          <a:xfrm>
            <a:off x="1057275" y="26098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Официальный prepare создаёт настройки и ключи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D159B5-A06E-4898-960F-095D82B21AEE}"/>
              </a:ext>
            </a:extLst>
          </p:cNvPr>
          <p:cNvSpPr>
            <a:spLocks noGrp="1"/>
          </p:cNvSpPr>
          <p:nvPr/>
        </p:nvSpPr>
        <p:spPr>
          <a:xfrm>
            <a:off x="1057275" y="29146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bash prepare.sh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0AA5B5-2392-49CA-838D-AEDA5F3B1CCC}"/>
              </a:ext>
            </a:extLst>
          </p:cNvPr>
          <p:cNvSpPr>
            <a:spLocks noGrp="1"/>
          </p:cNvSpPr>
          <p:nvPr/>
        </p:nvSpPr>
        <p:spPr>
          <a:xfrm>
            <a:off x="1057275" y="3219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59FEE8-F700-495C-8828-93B30A61EC00}"/>
              </a:ext>
            </a:extLst>
          </p:cNvPr>
          <p:cNvSpPr>
            <a:spLocks noGrp="1"/>
          </p:cNvSpPr>
          <p:nvPr/>
        </p:nvSpPr>
        <p:spPr>
          <a:xfrm>
            <a:off x="1057275" y="3524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Официальные образы Harbor и Trivy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5433B0-5921-4A24-B61D-308F6ED65344}"/>
              </a:ext>
            </a:extLst>
          </p:cNvPr>
          <p:cNvSpPr>
            <a:spLocks noGrp="1"/>
          </p:cNvSpPr>
          <p:nvPr/>
        </p:nvSpPr>
        <p:spPr>
          <a:xfrm>
            <a:off x="1057275" y="38290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compose up -d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739B7E-54A4-4460-A5B3-45D1BD97200C}"/>
              </a:ext>
            </a:extLst>
          </p:cNvPr>
          <p:cNvSpPr>
            <a:spLocks noGrp="1"/>
          </p:cNvSpPr>
          <p:nvPr/>
        </p:nvSpPr>
        <p:spPr>
          <a:xfrm>
            <a:off x="1057275" y="41338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compose ps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2389F6-3943-4346-81D7-2DBF46193B3D}"/>
              </a:ext>
            </a:extLst>
          </p:cNvPr>
          <p:cNvSpPr>
            <a:spLocks noGrp="1"/>
          </p:cNvSpPr>
          <p:nvPr/>
        </p:nvSpPr>
        <p:spPr>
          <a:xfrm>
            <a:off x="1057275" y="44386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D3B41-014D-4853-B5DE-3E5BCE79C817}"/>
              </a:ext>
            </a:extLst>
          </p:cNvPr>
          <p:cNvSpPr>
            <a:spLocks noGrp="1"/>
          </p:cNvSpPr>
          <p:nvPr/>
        </p:nvSpPr>
        <p:spPr>
          <a:xfrm>
            <a:off x="1057275" y="47434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Проверка готовности, а не только статуса контейнеров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A83318-576B-45CB-B473-43A2CAADFB19}"/>
              </a:ext>
            </a:extLst>
          </p:cNvPr>
          <p:cNvSpPr>
            <a:spLocks noGrp="1"/>
          </p:cNvSpPr>
          <p:nvPr/>
        </p:nvSpPr>
        <p:spPr>
          <a:xfrm>
            <a:off x="1057275" y="5048250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curl -fsS http://localhost:8081/api/v2.0/health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419CB2-FC80-41F8-87B7-199BE5B6445A}"/>
              </a:ext>
            </a:extLst>
          </p:cNvPr>
          <p:cNvSpPr>
            <a:spLocks noGrp="1"/>
          </p:cNvSpPr>
          <p:nvPr/>
        </p:nvSpPr>
        <p:spPr>
          <a:xfrm>
            <a:off x="828675" y="6191250"/>
            <a:ext cx="10477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Портал: http://localhost:8081. Данные: harbor/runtime/.</a:t>
            </a:r>
          </a:p>
        </p:txBody>
      </p:sp>
    </p:spTree>
    <p:extLst>
      <p:ext uri="{BB962C8B-B14F-4D97-AF65-F5344CB8AC3E}">
        <p14:creationId xmlns:p14="http://schemas.microsoft.com/office/powerpoint/2010/main" val="490094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5398784-48FE-439B-9829-A5E24CDD20D2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Push и pull нашего образа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237B7E-85AD-4137-A1CB-085BA8D94CFD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38150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FC8D40-89A8-424E-BA93-EA334CEBBDD4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Приватный проект club заранее создаём в портале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0EC0C4-9095-4123-89BD-C2CDBFDA5DC8}"/>
              </a:ext>
            </a:extLst>
          </p:cNvPr>
          <p:cNvSpPr>
            <a:spLocks noGrp="1"/>
          </p:cNvSpPr>
          <p:nvPr/>
        </p:nvSpPr>
        <p:spPr>
          <a:xfrm>
            <a:off x="1057275" y="202882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login localhost:8081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77D4ED-86A5-4A8B-B1FF-3953E8DF71CE}"/>
              </a:ext>
            </a:extLst>
          </p:cNvPr>
          <p:cNvSpPr>
            <a:spLocks noGrp="1"/>
          </p:cNvSpPr>
          <p:nvPr/>
        </p:nvSpPr>
        <p:spPr>
          <a:xfrm>
            <a:off x="1057275" y="236220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53EDD-26B4-4ACD-95DA-E5370771FF8F}"/>
              </a:ext>
            </a:extLst>
          </p:cNvPr>
          <p:cNvSpPr>
            <a:spLocks noGrp="1"/>
          </p:cNvSpPr>
          <p:nvPr/>
        </p:nvSpPr>
        <p:spPr>
          <a:xfrm>
            <a:off x="1057275" y="269557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Публикуем образ из задания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6A9C6A-E04E-472C-8B04-18588CD27683}"/>
              </a:ext>
            </a:extLst>
          </p:cNvPr>
          <p:cNvSpPr>
            <a:spLocks noGrp="1"/>
          </p:cNvSpPr>
          <p:nvPr/>
        </p:nvSpPr>
        <p:spPr>
          <a:xfrm>
            <a:off x="1057275" y="302895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tag club-demo:1.0 \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83F956-B5AD-4F8D-93EA-6B2F4E823114}"/>
              </a:ext>
            </a:extLst>
          </p:cNvPr>
          <p:cNvSpPr>
            <a:spLocks noGrp="1"/>
          </p:cNvSpPr>
          <p:nvPr/>
        </p:nvSpPr>
        <p:spPr>
          <a:xfrm>
            <a:off x="1057275" y="336232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localhost:8081/club/counter:1.0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B068C3-4F9D-46BE-9D8C-7860D956FEE6}"/>
              </a:ext>
            </a:extLst>
          </p:cNvPr>
          <p:cNvSpPr>
            <a:spLocks noGrp="1"/>
          </p:cNvSpPr>
          <p:nvPr/>
        </p:nvSpPr>
        <p:spPr>
          <a:xfrm>
            <a:off x="1057275" y="369570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push localhost:8081/club/counter:1.0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092A39-AD47-4310-90C2-15093BC69FE6}"/>
              </a:ext>
            </a:extLst>
          </p:cNvPr>
          <p:cNvSpPr>
            <a:spLocks noGrp="1"/>
          </p:cNvSpPr>
          <p:nvPr/>
        </p:nvSpPr>
        <p:spPr>
          <a:xfrm>
            <a:off x="1057275" y="402907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5CB74-2EB7-497F-A54C-C07CD5954F56}"/>
              </a:ext>
            </a:extLst>
          </p:cNvPr>
          <p:cNvSpPr>
            <a:spLocks noGrp="1"/>
          </p:cNvSpPr>
          <p:nvPr/>
        </p:nvSpPr>
        <p:spPr>
          <a:xfrm>
            <a:off x="1057275" y="436245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Проверяем получение образа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141157-E258-4E25-8812-EB30F4742263}"/>
              </a:ext>
            </a:extLst>
          </p:cNvPr>
          <p:cNvSpPr>
            <a:spLocks noGrp="1"/>
          </p:cNvSpPr>
          <p:nvPr/>
        </p:nvSpPr>
        <p:spPr>
          <a:xfrm>
            <a:off x="1057275" y="469582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pull localhost:8081/club/counter:1.0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797F0A-D35B-4F88-B6B4-5F29BE184EB4}"/>
              </a:ext>
            </a:extLst>
          </p:cNvPr>
          <p:cNvSpPr>
            <a:spLocks noGrp="1"/>
          </p:cNvSpPr>
          <p:nvPr/>
        </p:nvSpPr>
        <p:spPr>
          <a:xfrm>
            <a:off x="828675" y="6162675"/>
            <a:ext cx="105727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Пароль вводим интерактивно. В имени образа нет http://.</a:t>
            </a:r>
          </a:p>
        </p:txBody>
      </p:sp>
    </p:spTree>
    <p:extLst>
      <p:ext uri="{BB962C8B-B14F-4D97-AF65-F5344CB8AC3E}">
        <p14:creationId xmlns:p14="http://schemas.microsoft.com/office/powerpoint/2010/main" val="15688901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2FDBEA4-50C1-4D4A-8DA9-44260FF558D9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Задание 4. Свой Harbor (25 минут)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41474-C85E-474D-9CA7-B12D7690E5EF}"/>
              </a:ext>
            </a:extLst>
          </p:cNvPr>
          <p:cNvSpPr>
            <a:spLocks noGrp="1"/>
          </p:cNvSpPr>
          <p:nvPr/>
        </p:nvSpPr>
        <p:spPr>
          <a:xfrm>
            <a:off x="828675" y="1724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1) Открыть harbor/ и запустить prepare.sh, затем Compose.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BFDBAC-EE7A-4720-824A-56C8F45080AE}"/>
              </a:ext>
            </a:extLst>
          </p:cNvPr>
          <p:cNvSpPr>
            <a:spLocks noGrp="1"/>
          </p:cNvSpPr>
          <p:nvPr/>
        </p:nvSpPr>
        <p:spPr>
          <a:xfrm>
            <a:off x="828675" y="2486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2) Дождаться healthy и открыть localhost:8081.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59F42D-AC74-4B9F-A6D4-CE7D33D88D74}"/>
              </a:ext>
            </a:extLst>
          </p:cNvPr>
          <p:cNvSpPr>
            <a:spLocks noGrp="1"/>
          </p:cNvSpPr>
          <p:nvPr/>
        </p:nvSpPr>
        <p:spPr>
          <a:xfrm>
            <a:off x="828675" y="3248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3) Создать приватный проект club и квоту.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45324E-1B17-491C-93B2-8A7883D2757A}"/>
              </a:ext>
            </a:extLst>
          </p:cNvPr>
          <p:cNvSpPr>
            <a:spLocks noGrp="1"/>
          </p:cNvSpPr>
          <p:nvPr/>
        </p:nvSpPr>
        <p:spPr>
          <a:xfrm>
            <a:off x="828675" y="4010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4) Опубликовать counter:1.0 и открыть завершённый отчёт Trivy.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34F32E-CE32-44DF-90BA-CF2F7C68E5C6}"/>
              </a:ext>
            </a:extLst>
          </p:cNvPr>
          <p:cNvSpPr>
            <a:spLocks noGrp="1"/>
          </p:cNvSpPr>
          <p:nvPr/>
        </p:nvSpPr>
        <p:spPr>
          <a:xfrm>
            <a:off x="828675" y="4772025"/>
            <a:ext cx="78105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endParaRPr sz="2000" b="0" dirty="0">
              <a:solidFill>
                <a:srgbClr val="1818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ADB04D-EC00-4FE8-93B5-11ECEAF9D56C}"/>
              </a:ext>
            </a:extLst>
          </p:cNvPr>
          <p:cNvSpPr>
            <a:spLocks noGrp="1"/>
          </p:cNvSpPr>
          <p:nvPr/>
        </p:nvSpPr>
        <p:spPr>
          <a:xfrm>
            <a:off x="9077325" y="1657350"/>
            <a:ext cx="2286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hints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E93AF-4D2C-4A50-8DCF-822E1235BCFF}"/>
              </a:ext>
            </a:extLst>
          </p:cNvPr>
          <p:cNvSpPr>
            <a:spLocks noGrp="1"/>
          </p:cNvSpPr>
          <p:nvPr/>
        </p:nvSpPr>
        <p:spPr>
          <a:xfrm>
            <a:off x="9077325" y="2400300"/>
            <a:ext cx="2286000" cy="3238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bash prepare.sh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compose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 up -d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 ps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  down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push</a:t>
            </a:r>
          </a:p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docker pull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FC1265-4B6F-47EA-8CF3-50565D2ED260}"/>
              </a:ext>
            </a:extLst>
          </p:cNvPr>
          <p:cNvSpPr>
            <a:spLocks noGrp="1"/>
          </p:cNvSpPr>
          <p:nvPr/>
        </p:nvSpPr>
        <p:spPr>
          <a:xfrm>
            <a:off x="828675" y="6010275"/>
            <a:ext cx="105727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Готово: образ сохраняется, push/pull работают, scan завершён</a:t>
            </a:r>
          </a:p>
        </p:txBody>
      </p:sp>
    </p:spTree>
    <p:extLst>
      <p:ext uri="{BB962C8B-B14F-4D97-AF65-F5344CB8AC3E}">
        <p14:creationId xmlns:p14="http://schemas.microsoft.com/office/powerpoint/2010/main" val="17329776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D3F77C4-7290-4800-91CF-0F4130F9D2DF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Advanced: глубже в Docker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CF1D58-5326-4BAA-A9E0-6BAD749F62DA}"/>
              </a:ext>
            </a:extLst>
          </p:cNvPr>
          <p:cNvSpPr>
            <a:spLocks noGrp="1"/>
          </p:cNvSpPr>
          <p:nvPr/>
        </p:nvSpPr>
        <p:spPr>
          <a:xfrm>
            <a:off x="828675" y="1695450"/>
            <a:ext cx="10477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18181B"/>
                </a:solidFill>
                <a:latin typeface="Menlo"/>
                <a:ea typeface="Menlo"/>
                <a:cs typeface="Menlo"/>
              </a:rPr>
              <a:t>inview@club:~$ ./docker --advanced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0F1429-F51A-4870-8665-A8F6940DBF28}"/>
              </a:ext>
            </a:extLst>
          </p:cNvPr>
          <p:cNvSpPr>
            <a:spLocks noGrp="1"/>
          </p:cNvSpPr>
          <p:nvPr/>
        </p:nvSpPr>
        <p:spPr>
          <a:xfrm>
            <a:off x="828675" y="3781425"/>
            <a:ext cx="104775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Ядро Linux: cgroups и namespaces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5F7325-51DA-4090-A923-C5BE31BBDF5C}"/>
              </a:ext>
            </a:extLst>
          </p:cNvPr>
          <p:cNvSpPr>
            <a:spLocks noGrp="1"/>
          </p:cNvSpPr>
          <p:nvPr/>
        </p:nvSpPr>
        <p:spPr>
          <a:xfrm>
            <a:off x="828675" y="4533900"/>
            <a:ext cx="104775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Сборка: multistage и Hadolint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22120D-0689-4EB3-94F8-BB1A6DB32C99}"/>
              </a:ext>
            </a:extLst>
          </p:cNvPr>
          <p:cNvSpPr>
            <a:spLocks noGrp="1"/>
          </p:cNvSpPr>
          <p:nvPr/>
        </p:nvSpPr>
        <p:spPr>
          <a:xfrm>
            <a:off x="828675" y="5286375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Доверие и данные: подпись образов и volumes</a:t>
            </a:r>
          </a:p>
        </p:txBody>
      </p:sp>
    </p:spTree>
    <p:extLst>
      <p:ext uri="{BB962C8B-B14F-4D97-AF65-F5344CB8AC3E}">
        <p14:creationId xmlns:p14="http://schemas.microsoft.com/office/powerpoint/2010/main" val="947117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BFD5881-FD12-4959-8D70-376B4EA9A59E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Namespaces: что видит процесс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217ED8-C774-4186-851C-FDF87A65B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4375" y="1328833"/>
            <a:ext cx="7810500" cy="499091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4C5B28E-2CCB-45F4-9C64-D3B8C85AE48A}"/>
              </a:ext>
            </a:extLst>
          </p:cNvPr>
          <p:cNvSpPr>
            <a:spLocks noGrp="1"/>
          </p:cNvSpPr>
          <p:nvPr/>
        </p:nvSpPr>
        <p:spPr>
          <a:xfrm>
            <a:off x="8877300" y="1714500"/>
            <a:ext cx="26860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PID: свои номера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и список процессов.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162007-5BDA-41FF-995B-153AD7AE1773}"/>
              </a:ext>
            </a:extLst>
          </p:cNvPr>
          <p:cNvSpPr>
            <a:spLocks noGrp="1"/>
          </p:cNvSpPr>
          <p:nvPr/>
        </p:nvSpPr>
        <p:spPr>
          <a:xfrm>
            <a:off x="8877300" y="2981325"/>
            <a:ext cx="26860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NET: интерфейсы,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маршруты и порты.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40AA4C-3DF7-4268-9A33-1FE78E7077F7}"/>
              </a:ext>
            </a:extLst>
          </p:cNvPr>
          <p:cNvSpPr>
            <a:spLocks noGrp="1"/>
          </p:cNvSpPr>
          <p:nvPr/>
        </p:nvSpPr>
        <p:spPr>
          <a:xfrm>
            <a:off x="8877300" y="4248150"/>
            <a:ext cx="26860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MNT: отдельное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дерево монтирований.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2FE24A-D10A-4149-A0AF-8EB6469366E7}"/>
              </a:ext>
            </a:extLst>
          </p:cNvPr>
          <p:cNvSpPr>
            <a:spLocks noGrp="1"/>
          </p:cNvSpPr>
          <p:nvPr/>
        </p:nvSpPr>
        <p:spPr>
          <a:xfrm>
            <a:off x="828675" y="6467475"/>
            <a:ext cx="106680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Процессы могут разделять namespace. В Linux есть и time namespace.</a:t>
            </a:r>
          </a:p>
        </p:txBody>
      </p:sp>
    </p:spTree>
    <p:extLst>
      <p:ext uri="{BB962C8B-B14F-4D97-AF65-F5344CB8AC3E}">
        <p14:creationId xmlns:p14="http://schemas.microsoft.com/office/powerpoint/2010/main" val="9035878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DE4C6E-CACD-4FD0-AA22-C3F58C0DF2EB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Cgroups: сколько ресурсов доступно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8AF57A5-86AD-4B6F-959A-7E15B0E21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2828" y="1323975"/>
            <a:ext cx="7673593" cy="50006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8A64A16-DA1B-4034-B7C3-ADB77C5CE865}"/>
              </a:ext>
            </a:extLst>
          </p:cNvPr>
          <p:cNvSpPr>
            <a:spLocks noGrp="1"/>
          </p:cNvSpPr>
          <p:nvPr/>
        </p:nvSpPr>
        <p:spPr>
          <a:xfrm>
            <a:off x="8877300" y="1619250"/>
            <a:ext cx="268605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Одна группа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для нескольких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процессов.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827962-61CC-4827-B772-EA72A1F5994B}"/>
              </a:ext>
            </a:extLst>
          </p:cNvPr>
          <p:cNvSpPr>
            <a:spLocks noGrp="1"/>
          </p:cNvSpPr>
          <p:nvPr/>
        </p:nvSpPr>
        <p:spPr>
          <a:xfrm>
            <a:off x="8877300" y="3095625"/>
            <a:ext cx="268605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CPU: квота времени.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При исчерпании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процесс ждёт.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2EE991-7472-4B1D-A1AD-74F38A6F6EAE}"/>
              </a:ext>
            </a:extLst>
          </p:cNvPr>
          <p:cNvSpPr>
            <a:spLocks noGrp="1"/>
          </p:cNvSpPr>
          <p:nvPr/>
        </p:nvSpPr>
        <p:spPr>
          <a:xfrm>
            <a:off x="8877300" y="4714875"/>
            <a:ext cx="268605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Память: жёсткий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лимит может</a:t>
            </a:r>
          </a:p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привести к OOM.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99FD6A-9D7A-4EB2-8830-F232D94910FC}"/>
              </a:ext>
            </a:extLst>
          </p:cNvPr>
          <p:cNvSpPr>
            <a:spLocks noGrp="1"/>
          </p:cNvSpPr>
          <p:nvPr/>
        </p:nvSpPr>
        <p:spPr>
          <a:xfrm>
            <a:off x="828675" y="6467475"/>
            <a:ext cx="106680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Namespaces задают представление ресурсов. Cgroups учитывают и ограничивают их.</a:t>
            </a:r>
          </a:p>
        </p:txBody>
      </p:sp>
    </p:spTree>
    <p:extLst>
      <p:ext uri="{BB962C8B-B14F-4D97-AF65-F5344CB8AC3E}">
        <p14:creationId xmlns:p14="http://schemas.microsoft.com/office/powerpoint/2010/main" val="11839902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91C15A7-4924-4EBE-8478-B63ED3739F9F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Cgroups v2: читаем настройки ядра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3E6B53-CA26-48F2-AB4C-0D192ECAB45E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17195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8B8F3C-4AA3-4504-BBAA-FD67713D62C3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Читаем Linux-настройки внутри контейнера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091001-AA7B-4B91-9AB1-BE77FB180DB8}"/>
              </a:ext>
            </a:extLst>
          </p:cNvPr>
          <p:cNvSpPr>
            <a:spLocks noGrp="1"/>
          </p:cNvSpPr>
          <p:nvPr/>
        </p:nvSpPr>
        <p:spPr>
          <a:xfrm>
            <a:off x="1057275" y="201930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run --rm --cpus=0.5 --memory=64m \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B987D9-EDA6-4F5A-9237-9C39A3B03112}"/>
              </a:ext>
            </a:extLst>
          </p:cNvPr>
          <p:cNvSpPr>
            <a:spLocks noGrp="1"/>
          </p:cNvSpPr>
          <p:nvPr/>
        </p:nvSpPr>
        <p:spPr>
          <a:xfrm>
            <a:off x="1057275" y="234315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python:3.12-slim sh -c '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38BBFB-4470-4A79-BCFF-2C883B4BB587}"/>
              </a:ext>
            </a:extLst>
          </p:cNvPr>
          <p:cNvSpPr>
            <a:spLocks noGrp="1"/>
          </p:cNvSpPr>
          <p:nvPr/>
        </p:nvSpPr>
        <p:spPr>
          <a:xfrm>
            <a:off x="1057275" y="266700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ls -l /proc/1/ns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21AE8C-97AA-4A98-B6F1-7E7F84BF7E53}"/>
              </a:ext>
            </a:extLst>
          </p:cNvPr>
          <p:cNvSpPr>
            <a:spLocks noGrp="1"/>
          </p:cNvSpPr>
          <p:nvPr/>
        </p:nvSpPr>
        <p:spPr>
          <a:xfrm>
            <a:off x="1057275" y="299085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cat /sys/fs/cgroup/cpu.max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BC3204-52DB-4A79-84D7-15B22353212C}"/>
              </a:ext>
            </a:extLst>
          </p:cNvPr>
          <p:cNvSpPr>
            <a:spLocks noGrp="1"/>
          </p:cNvSpPr>
          <p:nvPr/>
        </p:nvSpPr>
        <p:spPr>
          <a:xfrm>
            <a:off x="1057275" y="331470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  cat /sys/fs/cgroup/memory.max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32BDED-8EB3-419D-8747-D3FD39E555DF}"/>
              </a:ext>
            </a:extLst>
          </p:cNvPr>
          <p:cNvSpPr>
            <a:spLocks noGrp="1"/>
          </p:cNvSpPr>
          <p:nvPr/>
        </p:nvSpPr>
        <p:spPr>
          <a:xfrm>
            <a:off x="1057275" y="363855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'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0EB855-143B-4901-9905-194BE37C5FA4}"/>
              </a:ext>
            </a:extLst>
          </p:cNvPr>
          <p:cNvSpPr>
            <a:spLocks noGrp="1"/>
          </p:cNvSpPr>
          <p:nvPr/>
        </p:nvSpPr>
        <p:spPr>
          <a:xfrm>
            <a:off x="1057275" y="396240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A0E600-909F-496E-9E46-37AD3E0E6B8D}"/>
              </a:ext>
            </a:extLst>
          </p:cNvPr>
          <p:cNvSpPr>
            <a:spLocks noGrp="1"/>
          </p:cNvSpPr>
          <p:nvPr/>
        </p:nvSpPr>
        <p:spPr>
          <a:xfrm>
            <a:off x="1057275" y="428625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Пример cpu.max: 50000 100000 (микросекунды)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9433E4-9F35-4131-9401-162B7478E62C}"/>
              </a:ext>
            </a:extLst>
          </p:cNvPr>
          <p:cNvSpPr>
            <a:spLocks noGrp="1"/>
          </p:cNvSpPr>
          <p:nvPr/>
        </p:nvSpPr>
        <p:spPr>
          <a:xfrm>
            <a:off x="1057275" y="461010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До 50 мс CPU-времени на период 100 мс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4EFD6C-D1EA-4BA4-BDDB-0E4F02A41ABF}"/>
              </a:ext>
            </a:extLst>
          </p:cNvPr>
          <p:cNvSpPr>
            <a:spLocks noGrp="1"/>
          </p:cNvSpPr>
          <p:nvPr/>
        </p:nvSpPr>
        <p:spPr>
          <a:xfrm>
            <a:off x="1057275" y="4933950"/>
            <a:ext cx="10096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memory.max: 67108864 байт = 64 MiB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74BF65-4839-40D2-98C2-6266012EDF7B}"/>
              </a:ext>
            </a:extLst>
          </p:cNvPr>
          <p:cNvSpPr>
            <a:spLocks noGrp="1"/>
          </p:cNvSpPr>
          <p:nvPr/>
        </p:nvSpPr>
        <p:spPr>
          <a:xfrm>
            <a:off x="828675" y="6010275"/>
            <a:ext cx="104775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Полный пример: advanced/cgroups/demo.sh. Требуется cgroups v2.</a:t>
            </a:r>
          </a:p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В Docker Desktop и Colima ядро Linux находится внутри VM.</a:t>
            </a:r>
          </a:p>
        </p:txBody>
      </p:sp>
    </p:spTree>
    <p:extLst>
      <p:ext uri="{BB962C8B-B14F-4D97-AF65-F5344CB8AC3E}">
        <p14:creationId xmlns:p14="http://schemas.microsoft.com/office/powerpoint/2010/main" val="20126115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6734A65-C928-40EC-99D7-9C5801063DA4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Multistage: сборка отдельно от запуска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0C0BE7-100C-4F2F-A6ED-3F035686464C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421005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65A1F1-146E-4A1A-A66F-CC1DCCAC2028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Сборочный этап с компилятором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C6E130-01C6-4843-8D63-DDAE8DA03FAF}"/>
              </a:ext>
            </a:extLst>
          </p:cNvPr>
          <p:cNvSpPr>
            <a:spLocks noGrp="1"/>
          </p:cNvSpPr>
          <p:nvPr/>
        </p:nvSpPr>
        <p:spPr>
          <a:xfrm>
            <a:off x="1057275" y="2009775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FROM golang:1.24.6-alpine AS build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4C9EE3-4BE0-493E-A522-67A2E5600A8A}"/>
              </a:ext>
            </a:extLst>
          </p:cNvPr>
          <p:cNvSpPr>
            <a:spLocks noGrp="1"/>
          </p:cNvSpPr>
          <p:nvPr/>
        </p:nvSpPr>
        <p:spPr>
          <a:xfrm>
            <a:off x="1057275" y="2324100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WORKDIR /src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40BB7A-E30F-42E3-9B86-F218ACEF4F77}"/>
              </a:ext>
            </a:extLst>
          </p:cNvPr>
          <p:cNvSpPr>
            <a:spLocks noGrp="1"/>
          </p:cNvSpPr>
          <p:nvPr/>
        </p:nvSpPr>
        <p:spPr>
          <a:xfrm>
            <a:off x="1057275" y="2638425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COPY main.go 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DC5F5B-1BD8-4038-BB34-00F2D846B1A6}"/>
              </a:ext>
            </a:extLst>
          </p:cNvPr>
          <p:cNvSpPr>
            <a:spLocks noGrp="1"/>
          </p:cNvSpPr>
          <p:nvPr/>
        </p:nvSpPr>
        <p:spPr>
          <a:xfrm>
            <a:off x="1057275" y="2952750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RUN CGO_ENABLED=0 go build -trimpath -o /out/server main.go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19D44A-0CF6-44B9-A922-210EBAF338BB}"/>
              </a:ext>
            </a:extLst>
          </p:cNvPr>
          <p:cNvSpPr>
            <a:spLocks noGrp="1"/>
          </p:cNvSpPr>
          <p:nvPr/>
        </p:nvSpPr>
        <p:spPr>
          <a:xfrm>
            <a:off x="1057275" y="3267075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4DE607-799C-45AD-B348-9C43CD12304F}"/>
              </a:ext>
            </a:extLst>
          </p:cNvPr>
          <p:cNvSpPr>
            <a:spLocks noGrp="1"/>
          </p:cNvSpPr>
          <p:nvPr/>
        </p:nvSpPr>
        <p:spPr>
          <a:xfrm>
            <a:off x="1057275" y="3581400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В runtime переносим только результат сборки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02CA96-5167-47A3-8B14-BFCF12B05982}"/>
              </a:ext>
            </a:extLst>
          </p:cNvPr>
          <p:cNvSpPr>
            <a:spLocks noGrp="1"/>
          </p:cNvSpPr>
          <p:nvPr/>
        </p:nvSpPr>
        <p:spPr>
          <a:xfrm>
            <a:off x="1057275" y="3895725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FROM scratch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1FB6A7-F6A6-4858-B73D-8FD193894B36}"/>
              </a:ext>
            </a:extLst>
          </p:cNvPr>
          <p:cNvSpPr>
            <a:spLocks noGrp="1"/>
          </p:cNvSpPr>
          <p:nvPr/>
        </p:nvSpPr>
        <p:spPr>
          <a:xfrm>
            <a:off x="1057275" y="4210050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COPY --from=build /out/server /server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57961C-5563-48F3-912E-DFF9C839A9B3}"/>
              </a:ext>
            </a:extLst>
          </p:cNvPr>
          <p:cNvSpPr>
            <a:spLocks noGrp="1"/>
          </p:cNvSpPr>
          <p:nvPr/>
        </p:nvSpPr>
        <p:spPr>
          <a:xfrm>
            <a:off x="1057275" y="4524375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USER 10001:10001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8D03E5-8A76-4E3A-A08A-FEE86523CC22}"/>
              </a:ext>
            </a:extLst>
          </p:cNvPr>
          <p:cNvSpPr>
            <a:spLocks noGrp="1"/>
          </p:cNvSpPr>
          <p:nvPr/>
        </p:nvSpPr>
        <p:spPr>
          <a:xfrm>
            <a:off x="1057275" y="4838700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EXPOSE 8080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3BF243-1D8E-4228-9644-5A9B00A639D8}"/>
              </a:ext>
            </a:extLst>
          </p:cNvPr>
          <p:cNvSpPr>
            <a:spLocks noGrp="1"/>
          </p:cNvSpPr>
          <p:nvPr/>
        </p:nvSpPr>
        <p:spPr>
          <a:xfrm>
            <a:off x="1057275" y="5153025"/>
            <a:ext cx="1009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ENTRYPOINT ["/server"]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51352B-12C2-4A2B-B3C2-5E7520D2D734}"/>
              </a:ext>
            </a:extLst>
          </p:cNvPr>
          <p:cNvSpPr>
            <a:spLocks noGrp="1"/>
          </p:cNvSpPr>
          <p:nvPr/>
        </p:nvSpPr>
        <p:spPr>
          <a:xfrm>
            <a:off x="828675" y="6086475"/>
            <a:ext cx="104775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Компилятор и исходники остаются в build. В scratch нет shell и корневых сертификатов.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6A3AA5-D184-4C9E-9CC9-E471EB26CEB1}"/>
              </a:ext>
            </a:extLst>
          </p:cNvPr>
          <p:cNvSpPr>
            <a:spLocks noGrp="1"/>
          </p:cNvSpPr>
          <p:nvPr/>
        </p:nvSpPr>
        <p:spPr>
          <a:xfrm>
            <a:off x="828675" y="57435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7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Файлы примера: advanced/multistage/</a:t>
            </a:r>
          </a:p>
        </p:txBody>
      </p:sp>
    </p:spTree>
    <p:extLst>
      <p:ext uri="{BB962C8B-B14F-4D97-AF65-F5344CB8AC3E}">
        <p14:creationId xmlns:p14="http://schemas.microsoft.com/office/powerpoint/2010/main" val="6521910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71B89D5-27E1-4D4F-AC71-1346AB2508A2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Hadolint: плохой и хороший Dockerfile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EEBE0C-8012-4C7D-8F8D-13640F38E0C0}"/>
              </a:ext>
            </a:extLst>
          </p:cNvPr>
          <p:cNvSpPr>
            <a:spLocks noGrp="1"/>
          </p:cNvSpPr>
          <p:nvPr/>
        </p:nvSpPr>
        <p:spPr>
          <a:xfrm>
            <a:off x="828675" y="1419225"/>
            <a:ext cx="5143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Dockerfile.bad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C987AD-B818-4AAB-8976-33BAD17ED18E}"/>
              </a:ext>
            </a:extLst>
          </p:cNvPr>
          <p:cNvSpPr>
            <a:spLocks noGrp="1"/>
          </p:cNvSpPr>
          <p:nvPr/>
        </p:nvSpPr>
        <p:spPr>
          <a:xfrm>
            <a:off x="6257925" y="1419225"/>
            <a:ext cx="5143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Dockerfile.good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221A61-3D0D-4ECF-B5F7-58BF3E654A63}"/>
              </a:ext>
            </a:extLst>
          </p:cNvPr>
          <p:cNvSpPr>
            <a:spLocks noGrp="1"/>
          </p:cNvSpPr>
          <p:nvPr/>
        </p:nvSpPr>
        <p:spPr>
          <a:xfrm>
            <a:off x="828675" y="1857375"/>
            <a:ext cx="5143500" cy="152400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884ADA-B42E-42B9-9E31-CEACD862320A}"/>
              </a:ext>
            </a:extLst>
          </p:cNvPr>
          <p:cNvSpPr>
            <a:spLocks noGrp="1"/>
          </p:cNvSpPr>
          <p:nvPr/>
        </p:nvSpPr>
        <p:spPr>
          <a:xfrm>
            <a:off x="6257925" y="1857375"/>
            <a:ext cx="5143500" cy="152400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683AF7-DDFF-4F14-BDE4-A54C00D2B0FC}"/>
              </a:ext>
            </a:extLst>
          </p:cNvPr>
          <p:cNvSpPr>
            <a:spLocks noGrp="1"/>
          </p:cNvSpPr>
          <p:nvPr/>
        </p:nvSpPr>
        <p:spPr>
          <a:xfrm>
            <a:off x="1057275" y="2047875"/>
            <a:ext cx="46863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FROM alpine:latest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0A58CA-9E5A-4E05-ABA6-453BD27C2AC5}"/>
              </a:ext>
            </a:extLst>
          </p:cNvPr>
          <p:cNvSpPr>
            <a:spLocks noGrp="1"/>
          </p:cNvSpPr>
          <p:nvPr/>
        </p:nvSpPr>
        <p:spPr>
          <a:xfrm>
            <a:off x="1057275" y="2390775"/>
            <a:ext cx="46863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RUN apk add curl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C2FEC0-0B9B-4C01-8C54-9A0455BD268D}"/>
              </a:ext>
            </a:extLst>
          </p:cNvPr>
          <p:cNvSpPr>
            <a:spLocks noGrp="1"/>
          </p:cNvSpPr>
          <p:nvPr/>
        </p:nvSpPr>
        <p:spPr>
          <a:xfrm>
            <a:off x="1057275" y="2733675"/>
            <a:ext cx="46863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CMD echo hello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388B1A-23A4-4D90-B360-D7B8A1E699FA}"/>
              </a:ext>
            </a:extLst>
          </p:cNvPr>
          <p:cNvSpPr>
            <a:spLocks noGrp="1"/>
          </p:cNvSpPr>
          <p:nvPr/>
        </p:nvSpPr>
        <p:spPr>
          <a:xfrm>
            <a:off x="6486525" y="2047875"/>
            <a:ext cx="46863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FROM alpine:3.21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2685C3-D17D-4865-9EA8-C24420D2A3B7}"/>
              </a:ext>
            </a:extLst>
          </p:cNvPr>
          <p:cNvSpPr>
            <a:spLocks noGrp="1"/>
          </p:cNvSpPr>
          <p:nvPr/>
        </p:nvSpPr>
        <p:spPr>
          <a:xfrm>
            <a:off x="6486525" y="2390775"/>
            <a:ext cx="46863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CMD ["echo", "hello"]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6DF768-6E0C-4F7B-94F4-5C39B44CB129}"/>
              </a:ext>
            </a:extLst>
          </p:cNvPr>
          <p:cNvSpPr>
            <a:spLocks noGrp="1"/>
          </p:cNvSpPr>
          <p:nvPr/>
        </p:nvSpPr>
        <p:spPr>
          <a:xfrm>
            <a:off x="828675" y="35528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В хорошем примере curl удалён: для echo он не нужен.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E0DAE8-F20A-49E0-A9ED-782C8FCA9830}"/>
              </a:ext>
            </a:extLst>
          </p:cNvPr>
          <p:cNvSpPr>
            <a:spLocks noGrp="1"/>
          </p:cNvSpPr>
          <p:nvPr/>
        </p:nvSpPr>
        <p:spPr>
          <a:xfrm>
            <a:off x="828675" y="4095750"/>
            <a:ext cx="10572750" cy="150495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ECA392-A940-43D8-B2AE-13612FD5FF0F}"/>
              </a:ext>
            </a:extLst>
          </p:cNvPr>
          <p:cNvSpPr>
            <a:spLocks noGrp="1"/>
          </p:cNvSpPr>
          <p:nvPr/>
        </p:nvSpPr>
        <p:spPr>
          <a:xfrm>
            <a:off x="1057275" y="4257675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Из корня репозитория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F3FD27-FBC7-4487-9F78-D75C65121BF9}"/>
              </a:ext>
            </a:extLst>
          </p:cNvPr>
          <p:cNvSpPr>
            <a:spLocks noGrp="1"/>
          </p:cNvSpPr>
          <p:nvPr/>
        </p:nvSpPr>
        <p:spPr>
          <a:xfrm>
            <a:off x="1057275" y="4562475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cd advanced/hadolint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438D912-0C4E-4568-964C-6D05A2C7892D}"/>
              </a:ext>
            </a:extLst>
          </p:cNvPr>
          <p:cNvSpPr>
            <a:spLocks noGrp="1"/>
          </p:cNvSpPr>
          <p:nvPr/>
        </p:nvSpPr>
        <p:spPr>
          <a:xfrm>
            <a:off x="1057275" y="4867275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bash lint.sh Dockerfile.good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DF7E58-CF17-4A13-B1C1-77C5183B4B71}"/>
              </a:ext>
            </a:extLst>
          </p:cNvPr>
          <p:cNvSpPr>
            <a:spLocks noGrp="1"/>
          </p:cNvSpPr>
          <p:nvPr/>
        </p:nvSpPr>
        <p:spPr>
          <a:xfrm>
            <a:off x="1057275" y="5172075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bash lint.sh Dockerfile.bad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8A301-BD41-4673-B96F-50428F3A8685}"/>
              </a:ext>
            </a:extLst>
          </p:cNvPr>
          <p:cNvSpPr>
            <a:spLocks noGrp="1"/>
          </p:cNvSpPr>
          <p:nvPr/>
        </p:nvSpPr>
        <p:spPr>
          <a:xfrm>
            <a:off x="828675" y="58388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Хороший: код 0. Плохой: DL3007, DL3018, DL3019, DL3025 и код 1.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CEC72B-8E6E-4366-9FE4-98A60F2F8B02}"/>
              </a:ext>
            </a:extLst>
          </p:cNvPr>
          <p:cNvSpPr>
            <a:spLocks noGrp="1"/>
          </p:cNvSpPr>
          <p:nvPr/>
        </p:nvSpPr>
        <p:spPr>
          <a:xfrm>
            <a:off x="828675" y="63246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Hadolint проверяет Dockerfile. Проверку CVE выполняет сканер образа.</a:t>
            </a:r>
          </a:p>
        </p:txBody>
      </p:sp>
    </p:spTree>
    <p:extLst>
      <p:ext uri="{BB962C8B-B14F-4D97-AF65-F5344CB8AC3E}">
        <p14:creationId xmlns:p14="http://schemas.microsoft.com/office/powerpoint/2010/main" val="9633054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A76F33A-7EC0-401B-83B9-AA370BD53B53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OpenSSL: локальная подпись образа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F0B2F7-8566-49C6-BD1A-D08F24F9E480}"/>
              </a:ext>
            </a:extLst>
          </p:cNvPr>
          <p:cNvSpPr>
            <a:spLocks noGrp="1"/>
          </p:cNvSpPr>
          <p:nvPr/>
        </p:nvSpPr>
        <p:spPr>
          <a:xfrm>
            <a:off x="828675" y="1438275"/>
            <a:ext cx="10477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2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Подписываем архив docker save. OpenSSL запросит пароль приватного ключа.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768BB6-A8D1-4D94-9E3F-2CD851BCC024}"/>
              </a:ext>
            </a:extLst>
          </p:cNvPr>
          <p:cNvSpPr>
            <a:spLocks noGrp="1"/>
          </p:cNvSpPr>
          <p:nvPr/>
        </p:nvSpPr>
        <p:spPr>
          <a:xfrm>
            <a:off x="828675" y="2143125"/>
            <a:ext cx="10572750" cy="333375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9AF4E1-2748-44A2-9557-0D6C6AA4B8E9}"/>
              </a:ext>
            </a:extLst>
          </p:cNvPr>
          <p:cNvSpPr>
            <a:spLocks noGrp="1"/>
          </p:cNvSpPr>
          <p:nvPr/>
        </p:nvSpPr>
        <p:spPr>
          <a:xfrm>
            <a:off x="1057275" y="233362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umask 077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CF3A1E-C9A9-4756-B254-1E241D8D5C98}"/>
              </a:ext>
            </a:extLst>
          </p:cNvPr>
          <p:cNvSpPr>
            <a:spLocks noGrp="1"/>
          </p:cNvSpPr>
          <p:nvPr/>
        </p:nvSpPr>
        <p:spPr>
          <a:xfrm>
            <a:off x="1057275" y="262890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save -o image.tar club-advanced:1.0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0B28AB-0203-4AE4-9139-8F7AC0B7F571}"/>
              </a:ext>
            </a:extLst>
          </p:cNvPr>
          <p:cNvSpPr>
            <a:spLocks noGrp="1"/>
          </p:cNvSpPr>
          <p:nvPr/>
        </p:nvSpPr>
        <p:spPr>
          <a:xfrm>
            <a:off x="1057275" y="292417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openssl genpkey -algorithm RSA -pkeyopt rsa_keygen_bits:2048 \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E783F3-4BD9-450D-B035-52421D24340E}"/>
              </a:ext>
            </a:extLst>
          </p:cNvPr>
          <p:cNvSpPr>
            <a:spLocks noGrp="1"/>
          </p:cNvSpPr>
          <p:nvPr/>
        </p:nvSpPr>
        <p:spPr>
          <a:xfrm>
            <a:off x="1057275" y="321945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-aes-256-cbc -out signing.key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2BB102-0BB0-437A-A2CB-DF8D11EECCCA}"/>
              </a:ext>
            </a:extLst>
          </p:cNvPr>
          <p:cNvSpPr>
            <a:spLocks noGrp="1"/>
          </p:cNvSpPr>
          <p:nvPr/>
        </p:nvSpPr>
        <p:spPr>
          <a:xfrm>
            <a:off x="1057275" y="351472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openssl pkey -in signing.key -pubout -out signing.pub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14F5F5-75F2-4D63-A5E1-30BF8D1BAC22}"/>
              </a:ext>
            </a:extLst>
          </p:cNvPr>
          <p:cNvSpPr>
            <a:spLocks noGrp="1"/>
          </p:cNvSpPr>
          <p:nvPr/>
        </p:nvSpPr>
        <p:spPr>
          <a:xfrm>
            <a:off x="828675" y="5695950"/>
            <a:ext cx="104775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Открытый ключ получаем из доверенного источника. Приватный ключ храним отдельно.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9E9E6-2E33-4B90-8C64-4159125B39FE}"/>
              </a:ext>
            </a:extLst>
          </p:cNvPr>
          <p:cNvSpPr>
            <a:spLocks noGrp="1"/>
          </p:cNvSpPr>
          <p:nvPr/>
        </p:nvSpPr>
        <p:spPr>
          <a:xfrm>
            <a:off x="828675" y="63817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7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Docker и Harbor автоматически не проверяют эту подпись. Проверяем архив до docker load.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175A62-BD55-42EE-8710-57CEFFD6557F}"/>
              </a:ext>
            </a:extLst>
          </p:cNvPr>
          <p:cNvSpPr>
            <a:spLocks noGrp="1"/>
          </p:cNvSpPr>
          <p:nvPr/>
        </p:nvSpPr>
        <p:spPr>
          <a:xfrm>
            <a:off x="1057275" y="381000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>
                <a:solidFill>
                  <a:srgbClr val="F5F5F5"/>
                </a:solidFill>
                <a:latin typeface="Menlo"/>
                <a:ea typeface="Menlo"/>
                <a:cs typeface="Menlo"/>
              </a:rPr>
              <a:t>openssl dgst -sha256 -sign signing.key \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7A7792-19F0-452D-BA8E-06C9EF5D429B}"/>
              </a:ext>
            </a:extLst>
          </p:cNvPr>
          <p:cNvSpPr>
            <a:spLocks noGrp="1"/>
          </p:cNvSpPr>
          <p:nvPr/>
        </p:nvSpPr>
        <p:spPr>
          <a:xfrm>
            <a:off x="1057275" y="410527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>
                <a:solidFill>
                  <a:srgbClr val="F5F5F5"/>
                </a:solidFill>
                <a:latin typeface="Menlo"/>
                <a:ea typeface="Menlo"/>
                <a:cs typeface="Menlo"/>
              </a:rPr>
              <a:t>  -out image.tar.sig image.tar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8FC2A2-6729-4E4A-B144-D8A2367B6CCE}"/>
              </a:ext>
            </a:extLst>
          </p:cNvPr>
          <p:cNvSpPr>
            <a:spLocks noGrp="1"/>
          </p:cNvSpPr>
          <p:nvPr/>
        </p:nvSpPr>
        <p:spPr>
          <a:xfrm>
            <a:off x="1057275" y="440055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>
                <a:solidFill>
                  <a:srgbClr val="F5F5F5"/>
                </a:solidFill>
                <a:latin typeface="Menlo"/>
                <a:ea typeface="Menlo"/>
                <a:cs typeface="Menlo"/>
              </a:rPr>
              <a:t>openssl dgst -sha256 -verify signing.pub \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723A6BD-C8DE-436F-93A6-8D45DEF29858}"/>
              </a:ext>
            </a:extLst>
          </p:cNvPr>
          <p:cNvSpPr>
            <a:spLocks noGrp="1"/>
          </p:cNvSpPr>
          <p:nvPr/>
        </p:nvSpPr>
        <p:spPr>
          <a:xfrm>
            <a:off x="1057275" y="4695825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725">
                <a:solidFill>
                  <a:srgbClr val="F5F5F5"/>
                </a:solidFill>
                <a:latin typeface="Menlo"/>
                <a:ea typeface="Menlo"/>
                <a:cs typeface="Menlo"/>
              </a:rPr>
              <a:t>  -signature image.tar.sig image.tar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BCA951-2F71-4C3D-A39B-31A62E5EBC19}"/>
              </a:ext>
            </a:extLst>
          </p:cNvPr>
          <p:cNvSpPr>
            <a:spLocks noGrp="1"/>
          </p:cNvSpPr>
          <p:nvPr/>
        </p:nvSpPr>
        <p:spPr>
          <a:xfrm>
            <a:off x="1057275" y="4991100"/>
            <a:ext cx="10096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725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725">
                <a:solidFill>
                  <a:srgbClr val="AFC69D"/>
                </a:solidFill>
                <a:latin typeface="Menlo"/>
                <a:ea typeface="Menlo"/>
                <a:cs typeface="Menlo"/>
              </a:rPr>
              <a:t># Verified OK</a:t>
            </a:r>
          </a:p>
        </p:txBody>
      </p:sp>
    </p:spTree>
    <p:extLst>
      <p:ext uri="{BB962C8B-B14F-4D97-AF65-F5344CB8AC3E}">
        <p14:creationId xmlns:p14="http://schemas.microsoft.com/office/powerpoint/2010/main" val="3170575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B7288AB-9034-4940-B749-096AC5D35908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Volumes: контейнер удалён, файл остался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8B5D79-AE5A-4FC5-B4E7-CBD6C572D013}"/>
              </a:ext>
            </a:extLst>
          </p:cNvPr>
          <p:cNvSpPr>
            <a:spLocks noGrp="1"/>
          </p:cNvSpPr>
          <p:nvPr/>
        </p:nvSpPr>
        <p:spPr>
          <a:xfrm>
            <a:off x="828675" y="1504950"/>
            <a:ext cx="10572750" cy="3886200"/>
          </a:xfrm>
          <a:prstGeom prst="rect">
            <a:avLst/>
          </a:prstGeom>
          <a:solidFill>
            <a:srgbClr val="16181C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53AEF3-1441-443C-87D6-DAD9208CA79B}"/>
              </a:ext>
            </a:extLst>
          </p:cNvPr>
          <p:cNvSpPr>
            <a:spLocks noGrp="1"/>
          </p:cNvSpPr>
          <p:nvPr/>
        </p:nvSpPr>
        <p:spPr>
          <a:xfrm>
            <a:off x="1057275" y="169545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Выберите новое имя учебного volume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45B0FB-A633-4AFF-AB34-3D80B2C9EECD}"/>
              </a:ext>
            </a:extLst>
          </p:cNvPr>
          <p:cNvSpPr>
            <a:spLocks noGrp="1"/>
          </p:cNvSpPr>
          <p:nvPr/>
        </p:nvSpPr>
        <p:spPr>
          <a:xfrm>
            <a:off x="1057275" y="202882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volume create club-data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16A259-2704-467F-9123-C8766450E046}"/>
              </a:ext>
            </a:extLst>
          </p:cNvPr>
          <p:cNvSpPr>
            <a:spLocks noGrp="1"/>
          </p:cNvSpPr>
          <p:nvPr/>
        </p:nvSpPr>
        <p:spPr>
          <a:xfrm>
            <a:off x="1057275" y="236220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Первый контейнер пишет файл и удаляется (--rm)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DF9E10-7FA9-49D8-A918-A6333DDB8CD1}"/>
              </a:ext>
            </a:extLst>
          </p:cNvPr>
          <p:cNvSpPr>
            <a:spLocks noGrp="1"/>
          </p:cNvSpPr>
          <p:nvPr/>
        </p:nvSpPr>
        <p:spPr>
          <a:xfrm>
            <a:off x="1057275" y="269557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run --rm -v club-data:/data alpine:3.21 \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9427EE-C93C-45AE-9147-EBB6E6DFF5CF}"/>
              </a:ext>
            </a:extLst>
          </p:cNvPr>
          <p:cNvSpPr>
            <a:spLocks noGrp="1"/>
          </p:cNvSpPr>
          <p:nvPr/>
        </p:nvSpPr>
        <p:spPr>
          <a:xfrm>
            <a:off x="1057275" y="302895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sh -c 'echo hello &gt; /data/result.txt'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7CAC4-FD1F-4E72-AF82-A89D24C3F31E}"/>
              </a:ext>
            </a:extLst>
          </p:cNvPr>
          <p:cNvSpPr>
            <a:spLocks noGrp="1"/>
          </p:cNvSpPr>
          <p:nvPr/>
        </p:nvSpPr>
        <p:spPr>
          <a:xfrm>
            <a:off x="1057275" y="336232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6D375D-9C14-4A34-BD73-127E71B59D8B}"/>
              </a:ext>
            </a:extLst>
          </p:cNvPr>
          <p:cNvSpPr>
            <a:spLocks noGrp="1"/>
          </p:cNvSpPr>
          <p:nvPr/>
        </p:nvSpPr>
        <p:spPr>
          <a:xfrm>
            <a:off x="1057275" y="369570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AFC69D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AFC69D"/>
                </a:solidFill>
                <a:latin typeface="Menlo"/>
                <a:ea typeface="Menlo"/>
                <a:cs typeface="Menlo"/>
              </a:rPr>
              <a:t># Второй контейнер читает тот же volume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C7F44A-1CEE-4327-BBE3-1EFEC3D1B6CE}"/>
              </a:ext>
            </a:extLst>
          </p:cNvPr>
          <p:cNvSpPr>
            <a:spLocks noGrp="1"/>
          </p:cNvSpPr>
          <p:nvPr/>
        </p:nvSpPr>
        <p:spPr>
          <a:xfrm>
            <a:off x="1057275" y="402907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run --rm -v club-data:/data:ro alpine:3.21 \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C84F53-E57C-435A-A0C1-6DBB77A4B6B8}"/>
              </a:ext>
            </a:extLst>
          </p:cNvPr>
          <p:cNvSpPr>
            <a:spLocks noGrp="1"/>
          </p:cNvSpPr>
          <p:nvPr/>
        </p:nvSpPr>
        <p:spPr>
          <a:xfrm>
            <a:off x="1057275" y="436245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  cat /data/result.txt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2A77A5-6076-4396-9E26-D19769DA1A67}"/>
              </a:ext>
            </a:extLst>
          </p:cNvPr>
          <p:cNvSpPr>
            <a:spLocks noGrp="1"/>
          </p:cNvSpPr>
          <p:nvPr/>
        </p:nvSpPr>
        <p:spPr>
          <a:xfrm>
            <a:off x="1057275" y="4695825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defPPr>
          </a:lstStyle>
          <a:p>
            <a:pPr>
              <a:buNone/>
              <a:defRPr sz="1800" b="0">
                <a:solidFill>
                  <a:srgbClr val="F5F5F5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5F5F5"/>
                </a:solidFill>
                <a:latin typeface="Menlo"/>
                <a:ea typeface="Menlo"/>
                <a:cs typeface="Menlo"/>
              </a:rPr>
              <a:t>docker volume inspect club-data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9597E9-91FA-4DA3-B51E-A77FA3BEA1B8}"/>
              </a:ext>
            </a:extLst>
          </p:cNvPr>
          <p:cNvSpPr>
            <a:spLocks noGrp="1"/>
          </p:cNvSpPr>
          <p:nvPr/>
        </p:nvSpPr>
        <p:spPr>
          <a:xfrm>
            <a:off x="828675" y="5829300"/>
            <a:ext cx="104775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Полный пример: advanced/volumes/demo.sh.</a:t>
            </a:r>
          </a:p>
          <a:p>
            <a:pPr>
              <a:buNone/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Дополнительно проверяем копирование файлов из образа.</a:t>
            </a:r>
          </a:p>
        </p:txBody>
      </p:sp>
    </p:spTree>
    <p:extLst>
      <p:ext uri="{BB962C8B-B14F-4D97-AF65-F5344CB8AC3E}">
        <p14:creationId xmlns:p14="http://schemas.microsoft.com/office/powerpoint/2010/main" val="937187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D2BB7B2-751C-436A-A21C-77C87BC5DE74}"/>
              </a:ext>
            </a:extLst>
          </p:cNvPr>
          <p:cNvSpPr>
            <a:spLocks noGrp="1"/>
          </p:cNvSpPr>
          <p:nvPr/>
        </p:nvSpPr>
        <p:spPr>
          <a:xfrm>
            <a:off x="657225" y="495300"/>
            <a:ext cx="10858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Обратная связь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940106-8DD9-4331-B2C0-5870B812E123}"/>
              </a:ext>
            </a:extLst>
          </p:cNvPr>
          <p:cNvSpPr>
            <a:spLocks noGrp="1"/>
          </p:cNvSpPr>
          <p:nvPr/>
        </p:nvSpPr>
        <p:spPr>
          <a:xfrm>
            <a:off x="828675" y="2447925"/>
            <a:ext cx="10477500" cy="1952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125" b="1">
                <a:solidFill>
                  <a:srgbClr val="18181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4125" b="1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8181B"/>
                </a:solidFill>
                <a:latin typeface="Arial"/>
                <a:ea typeface="Arial"/>
                <a:cs typeface="Arial"/>
              </a:rPr>
              <a:t>здесь будет QR с формой</a:t>
            </a:r>
          </a:p>
          <a:p>
            <a:pPr>
              <a:buNone/>
              <a:defRPr sz="4125" b="1">
                <a:solidFill>
                  <a:srgbClr val="18181B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8181B"/>
                </a:solidFill>
                <a:latin typeface="Arial"/>
                <a:ea typeface="Arial"/>
                <a:cs typeface="Arial"/>
              </a:rPr>
              <a:t>обратной связи</a:t>
            </a:r>
          </a:p>
        </p:txBody>
      </p:sp>
    </p:spTree>
    <p:extLst>
      <p:ext uri="{BB962C8B-B14F-4D97-AF65-F5344CB8AC3E}">
        <p14:creationId xmlns:p14="http://schemas.microsoft.com/office/powerpoint/2010/main" val="1067020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4">
            <a:extLst>
              <a:ext uri="{FF2B5EF4-FFF2-40B4-BE49-F238E27FC236}">
                <a16:creationId xmlns:a16="http://schemas.microsoft.com/office/drawing/2014/main" id="{7F251F5D-360C-4213-9478-86953F4D4027}"/>
              </a:ext>
            </a:extLst>
          </p:cNvPr>
          <p:cNvSpPr>
            <a:spLocks noGrp="1"/>
          </p:cNvSpPr>
          <p:nvPr/>
        </p:nvSpPr>
        <p:spPr>
          <a:xfrm>
            <a:off x="822960" y="822960"/>
            <a:ext cx="10058400" cy="41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inview@club:~$ </a:t>
            </a:r>
            <a:r>
              <a:rPr sz="1500" b="0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./join.sh</a:t>
            </a:r>
            <a:r>
              <a:rPr sz="1500" b="0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 █</a:t>
            </a:r>
          </a:p>
        </p:txBody>
      </p:sp>
      <p:sp>
        <p:nvSpPr>
          <p:cNvPr id="309" name="Google Shape;309;p14">
            <a:extLst>
              <a:ext uri="{FF2B5EF4-FFF2-40B4-BE49-F238E27FC236}">
                <a16:creationId xmlns:a16="http://schemas.microsoft.com/office/drawing/2014/main" id="{7FC27061-E3B6-4C89-9F32-0C9C36B01683}"/>
              </a:ext>
            </a:extLst>
          </p:cNvPr>
          <p:cNvSpPr>
            <a:spLocks noGrp="1"/>
          </p:cNvSpPr>
          <p:nvPr/>
        </p:nvSpPr>
        <p:spPr>
          <a:xfrm>
            <a:off x="777240" y="1371600"/>
            <a:ext cx="7315200" cy="137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72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Приходи.</a:t>
            </a:r>
          </a:p>
        </p:txBody>
      </p:sp>
      <p:sp>
        <p:nvSpPr>
          <p:cNvPr id="310" name="Google Shape;310;p14">
            <a:extLst>
              <a:ext uri="{FF2B5EF4-FFF2-40B4-BE49-F238E27FC236}">
                <a16:creationId xmlns:a16="http://schemas.microsoft.com/office/drawing/2014/main" id="{08E3FE67-76AC-4301-AE62-EDFDAE91B598}"/>
              </a:ext>
            </a:extLst>
          </p:cNvPr>
          <p:cNvSpPr>
            <a:spLocks noGrp="1"/>
          </p:cNvSpPr>
          <p:nvPr/>
        </p:nvSpPr>
        <p:spPr>
          <a:xfrm>
            <a:off x="5257933" y="1630042"/>
            <a:ext cx="66750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3F3F46"/>
                </a:solidFill>
                <a:latin typeface="Arial"/>
                <a:ea typeface="Arial"/>
                <a:cs typeface="Arial"/>
              </a:rPr>
              <a:t>Уровень не важен: на встрече рядом сидят первый курс и senior с десятью годами. Интересно всем.</a:t>
            </a:r>
          </a:p>
        </p:txBody>
      </p:sp>
      <p:sp>
        <p:nvSpPr>
          <p:cNvPr id="311" name="Google Shape;311;p14">
            <a:extLst>
              <a:ext uri="{FF2B5EF4-FFF2-40B4-BE49-F238E27FC236}">
                <a16:creationId xmlns:a16="http://schemas.microsoft.com/office/drawing/2014/main" id="{49AAEEBD-3628-4DED-95E6-11C71DE9D9C9}"/>
              </a:ext>
            </a:extLst>
          </p:cNvPr>
          <p:cNvSpPr>
            <a:spLocks noGrp="1"/>
          </p:cNvSpPr>
          <p:nvPr/>
        </p:nvSpPr>
        <p:spPr>
          <a:xfrm>
            <a:off x="822960" y="3611880"/>
            <a:ext cx="6675000" cy="111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4">
            <a:extLst>
              <a:ext uri="{FF2B5EF4-FFF2-40B4-BE49-F238E27FC236}">
                <a16:creationId xmlns:a16="http://schemas.microsoft.com/office/drawing/2014/main" id="{A368C383-BCCE-42ED-9099-352E2E9EDF08}"/>
              </a:ext>
            </a:extLst>
          </p:cNvPr>
          <p:cNvSpPr>
            <a:spLocks noGrp="1"/>
          </p:cNvSpPr>
          <p:nvPr/>
        </p:nvSpPr>
        <p:spPr>
          <a:xfrm>
            <a:off x="822960" y="6305017"/>
            <a:ext cx="7315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71717A"/>
                </a:solidFill>
              </a:rPr>
              <a:t>партнерства</a:t>
            </a:r>
            <a:r>
              <a:rPr sz="14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 и доклады: </a:t>
            </a:r>
            <a:r>
              <a:rPr sz="1400" b="1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@ch4t5ky</a:t>
            </a:r>
            <a:endParaRPr sz="1400" b="0" i="0">
              <a:solidFill>
                <a:srgbClr val="71717A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13" name="Google Shape;313;p14">
            <a:extLst>
              <a:ext uri="{FF2B5EF4-FFF2-40B4-BE49-F238E27FC236}">
                <a16:creationId xmlns:a16="http://schemas.microsoft.com/office/drawing/2014/main" id="{74FA1F38-7903-494A-9F50-EFFAA5045B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93078" y="2846197"/>
            <a:ext cx="2564850" cy="2564850"/>
          </a:xfrm>
          <a:prstGeom prst="rect">
            <a:avLst/>
          </a:prstGeom>
          <a:ln>
            <a:noFill/>
          </a:ln>
        </p:spPr>
      </p:pic>
      <p:sp>
        <p:nvSpPr>
          <p:cNvPr id="314" name="Google Shape;314;p14">
            <a:extLst>
              <a:ext uri="{FF2B5EF4-FFF2-40B4-BE49-F238E27FC236}">
                <a16:creationId xmlns:a16="http://schemas.microsoft.com/office/drawing/2014/main" id="{C06909BB-454B-4274-BDCC-865C46734862}"/>
              </a:ext>
            </a:extLst>
          </p:cNvPr>
          <p:cNvSpPr>
            <a:spLocks noGrp="1"/>
          </p:cNvSpPr>
          <p:nvPr/>
        </p:nvSpPr>
        <p:spPr>
          <a:xfrm>
            <a:off x="3129686" y="5506031"/>
            <a:ext cx="16917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чат клуба</a:t>
            </a:r>
          </a:p>
        </p:txBody>
      </p:sp>
      <p:pic>
        <p:nvPicPr>
          <p:cNvPr id="315" name="Google Shape;315;p14">
            <a:extLst>
              <a:ext uri="{FF2B5EF4-FFF2-40B4-BE49-F238E27FC236}">
                <a16:creationId xmlns:a16="http://schemas.microsoft.com/office/drawing/2014/main" id="{AADB9A87-7314-4B64-868E-FA65D8F1F83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67200" y="2863450"/>
            <a:ext cx="2564850" cy="2564850"/>
          </a:xfrm>
          <a:prstGeom prst="rect">
            <a:avLst/>
          </a:prstGeom>
          <a:ln>
            <a:noFill/>
          </a:ln>
        </p:spPr>
      </p:pic>
      <p:sp>
        <p:nvSpPr>
          <p:cNvPr id="316" name="Google Shape;316;p14">
            <a:extLst>
              <a:ext uri="{FF2B5EF4-FFF2-40B4-BE49-F238E27FC236}">
                <a16:creationId xmlns:a16="http://schemas.microsoft.com/office/drawing/2014/main" id="{3F096688-CD30-447F-8874-7C66FFF01160}"/>
              </a:ext>
            </a:extLst>
          </p:cNvPr>
          <p:cNvSpPr>
            <a:spLocks noGrp="1"/>
          </p:cNvSpPr>
          <p:nvPr/>
        </p:nvSpPr>
        <p:spPr>
          <a:xfrm>
            <a:off x="6903777" y="5506050"/>
            <a:ext cx="16917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8181B"/>
                </a:solidFill>
                <a:latin typeface="Arial"/>
                <a:ea typeface="Arial"/>
                <a:cs typeface="Arial"/>
              </a:rPr>
              <a:t>канал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71717A"/>
                </a:solidFill>
                <a:latin typeface="Arial"/>
                <a:ea typeface="Arial"/>
                <a:cs typeface="Arial"/>
              </a:rPr>
              <a:t>@inview_club</a:t>
            </a:r>
            <a:endParaRPr sz="1100" b="1" i="0">
              <a:solidFill>
                <a:srgbClr val="18181B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5656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4078</Words>
  <Application>Microsoft Macintosh PowerPoint</Application>
  <DocSecurity>0</DocSecurity>
  <PresentationFormat>Widescreen</PresentationFormat>
  <Paragraphs>463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Ilia Krivoshein</cp:lastModifiedBy>
  <cp:revision>1</cp:revision>
  <dcterms:created xsi:type="dcterms:W3CDTF">2026-10-11T15:19:24Z</dcterms:created>
  <dcterms:modified xsi:type="dcterms:W3CDTF">2026-10-11T15:20:52Z</dcterms:modified>
</cp:coreProperties>
</file>